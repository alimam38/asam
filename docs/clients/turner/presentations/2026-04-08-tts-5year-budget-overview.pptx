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8518" l="124" r="3545" t="24623"/>
          <a:stretch/>
        </p:blipFill>
        <p:spPr>
          <a:xfrm>
            <a:off x="537299" y="14992"/>
            <a:ext cx="17723025" cy="4849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-144661"/>
            <a:ext cx="537299" cy="10431661"/>
            <a:chOff x="0" y="-38100"/>
            <a:chExt cx="141511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41511" cy="2709333"/>
            </a:xfrm>
            <a:custGeom>
              <a:rect b="b" l="l" r="r" t="t"/>
              <a:pathLst>
                <a:path extrusionOk="0" h="2709333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4151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11948842" y="8399151"/>
            <a:ext cx="1163662" cy="1238414"/>
          </a:xfrm>
          <a:custGeom>
            <a:rect b="b" l="l" r="r" t="t"/>
            <a:pathLst>
              <a:path extrusionOk="0" h="1238414" w="1163662">
                <a:moveTo>
                  <a:pt x="0" y="0"/>
                </a:moveTo>
                <a:lnTo>
                  <a:pt x="1163662" y="0"/>
                </a:lnTo>
                <a:lnTo>
                  <a:pt x="1163662" y="1238415"/>
                </a:lnTo>
                <a:lnTo>
                  <a:pt x="0" y="1238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13223529" y="8638707"/>
            <a:ext cx="5444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Office of Business &amp; Finance  ·  April 2026</a:t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11119900" y="8067549"/>
            <a:ext cx="537655" cy="2201797"/>
            <a:chOff x="0" y="0"/>
            <a:chExt cx="141600" cy="113805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41511" cy="1138056"/>
            </a:xfrm>
            <a:custGeom>
              <a:rect b="b" l="l" r="r" t="t"/>
              <a:pathLst>
                <a:path extrusionOk="0" h="1138056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1138056"/>
                  </a:lnTo>
                  <a:lnTo>
                    <a:pt x="0" y="1138056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369716"/>
              <a:ext cx="141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9139238" y="4979532"/>
            <a:ext cx="9525" cy="28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192835" y="9120357"/>
            <a:ext cx="4234558" cy="65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FOR A PREPARED MINISTRY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39" u="none" cap="none" strike="noStrike">
              <a:solidFill>
                <a:srgbClr val="683E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846554" y="7542564"/>
            <a:ext cx="536496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61920" y="5071169"/>
            <a:ext cx="17173686" cy="21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2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5A2D91"/>
                </a:solidFill>
                <a:latin typeface="Inter"/>
                <a:ea typeface="Inter"/>
                <a:cs typeface="Inter"/>
                <a:sym typeface="Inter"/>
              </a:rPr>
              <a:t>5-YEAR OPERATING BUDGET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65226" y="8437251"/>
            <a:ext cx="4376243" cy="40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C9A22B"/>
                </a:solidFill>
                <a:latin typeface="Anton"/>
                <a:ea typeface="Anton"/>
                <a:cs typeface="Anton"/>
                <a:sym typeface="Anton"/>
              </a:rPr>
              <a:t>DONATE TODAY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8752883" y="8446776"/>
            <a:ext cx="1699250" cy="1699250"/>
          </a:xfrm>
          <a:custGeom>
            <a:rect b="b" l="l" r="r" t="t"/>
            <a:pathLst>
              <a:path extrusionOk="0" h="1699250" w="1699250">
                <a:moveTo>
                  <a:pt x="0" y="0"/>
                </a:moveTo>
                <a:lnTo>
                  <a:pt x="1699250" y="0"/>
                </a:lnTo>
                <a:lnTo>
                  <a:pt x="1699250" y="1699251"/>
                </a:lnTo>
                <a:lnTo>
                  <a:pt x="0" y="1699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56054" y="7070367"/>
            <a:ext cx="536494" cy="464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917165" y="9244282"/>
            <a:ext cx="7835718" cy="48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i="0" lang="en-US" sz="3290" u="none" cap="none" strike="noStrike">
                <a:solidFill>
                  <a:srgbClr val="FFCB0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1894 LEGACY IMPACT</a:t>
            </a:r>
            <a:r>
              <a:rPr b="0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CAMPAIGN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BUDGET ARCHITECTURE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TAB 1 — SUMMARY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TRACS-facing face — no plug figures — same structure accreditors have seen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TAB 2 — ASSUMPTIONS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Only tab where numbers are entered — all other tabs pull from here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TAB 3 — REVENUE DETAIL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Tuition build  ·  Housing model  ·  AME support  ·  Title IV impact timeline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TAB 4 &amp; 5 — EXPENSES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Personnel + LOC interest + operations  ·  3% COLA applied automatically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TAB 6 — HOUSING SCENARIOS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75% base case vs 100% full occupancy — side-by-side with variance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5-YEAR SUMMARY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FY2026:  Revenue $2,566K  →  Net Surplus $229K  (Spelman final year)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FY2027:  Revenue $2,441K  →  Net Surplus $71K   (Housing cliff — self-managed begins)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FY2028:  Revenue $2,854K  →  Net Surplus $153K  (Title IV begins — inflection point)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FY2029:  Revenue $3,093K  →  Net Surplus $243K  (Stabilizing)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FY2031:  Revenue $3,574K  →  Net Surplus $544K  (Sustainable surplus)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 FY2027 CLIFF</a:t>
            </a:r>
            <a:endParaRPr/>
          </a:p>
        </p:txBody>
      </p:sp>
      <p:grpSp>
        <p:nvGrpSpPr>
          <p:cNvPr id="364" name="Google Shape;364;p9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6" name="Google Shape;366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9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71" name="Google Shape;371;p9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Spelman MOU final year: FY2026 auxiliary revenue $1,287,354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Self-managed at 75% occupancy: FY2027 auxiliary revenue $830,376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Revenue drop of $457K in Year 1 of self-management — managed, not hidden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+5% occupancy/year recovery: 75% → 80% → 85% → 90% → 95% by FY2031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Budget is built to show this honestly — not to paper over the transition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ASSUMPTIONS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ENROLLMENT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MDiv: 34 students FY2026 → 85 by FY2031  ·  Title IV assumed Spring 2027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HOUSING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75% base occupancy FY2027  ·  +5%/year to 95%  ·  A.T.I. $65,800 confirmed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AID REFORM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Aid rate: 95% → 40% as federal aid replaces institutional scholarships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EXPENSES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3% COLA on non-personnel  ·  LOC interest $73,665/yr declining with paydown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MILESTONES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Title IV Spring 2027  ·  LOC paydown FY2028  ·  SACSCOC ≥1.5 by FY2028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/>
          <p:nvPr/>
        </p:nvSpPr>
        <p:spPr>
          <a:xfrm>
            <a:off x="7589529" y="334985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95" name="Google Shape;395;p11"/>
          <p:cNvSpPr txBox="1"/>
          <p:nvPr/>
        </p:nvSpPr>
        <p:spPr>
          <a:xfrm>
            <a:off x="2706945" y="1612487"/>
            <a:ext cx="14270536" cy="107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COMPOSITE SCORE RECOVERY PATH</a:t>
            </a:r>
            <a:endParaRPr/>
          </a:p>
        </p:txBody>
      </p:sp>
      <p:grpSp>
        <p:nvGrpSpPr>
          <p:cNvPr id="396" name="Google Shape;396;p11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8" name="Google Shape;398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1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1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403" name="Google Shape;403;p11"/>
          <p:cNvCxnSpPr/>
          <p:nvPr/>
        </p:nvCxnSpPr>
        <p:spPr>
          <a:xfrm rot="10800000">
            <a:off x="2706945" y="2869225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1"/>
          <p:cNvSpPr txBox="1"/>
          <p:nvPr/>
        </p:nvSpPr>
        <p:spPr>
          <a:xfrm>
            <a:off x="646579" y="2843030"/>
            <a:ext cx="16674267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FY2025: 0.6  (Audit result — isolated, not trending)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FY2026: 1.2  (Recovery year — FY2026 surplus restores trajectory)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FY2027: 0.9  (Housing cliff year — temporary dip)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FY2028: 1.5  (Title IV inflection — target reached)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FY2029: 1.8  (Stabilizing — above threshold)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FY2031: 2.4  (Sustainable — well above DOE requirement)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2"/>
          <p:cNvPicPr preferRelativeResize="0"/>
          <p:nvPr/>
        </p:nvPicPr>
        <p:blipFill rotWithShape="1">
          <a:blip r:embed="rId4">
            <a:alphaModFix/>
          </a:blip>
          <a:srcRect b="32979" l="0" r="0" t="32979"/>
          <a:stretch/>
        </p:blipFill>
        <p:spPr>
          <a:xfrm>
            <a:off x="0" y="0"/>
            <a:ext cx="18288000" cy="4669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2"/>
          <p:cNvGrpSpPr/>
          <p:nvPr/>
        </p:nvGrpSpPr>
        <p:grpSpPr>
          <a:xfrm>
            <a:off x="3022128" y="3367065"/>
            <a:ext cx="12243743" cy="1776435"/>
            <a:chOff x="0" y="-38100"/>
            <a:chExt cx="3224690" cy="46786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3224690" cy="429768"/>
            </a:xfrm>
            <a:custGeom>
              <a:rect b="b" l="l" r="r" t="t"/>
              <a:pathLst>
                <a:path extrusionOk="0" h="429768" w="3224690">
                  <a:moveTo>
                    <a:pt x="203200" y="0"/>
                  </a:moveTo>
                  <a:lnTo>
                    <a:pt x="3021490" y="0"/>
                  </a:lnTo>
                  <a:lnTo>
                    <a:pt x="3224690" y="429768"/>
                  </a:lnTo>
                  <a:lnTo>
                    <a:pt x="0" y="4297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2" name="Google Shape;412;p12"/>
            <p:cNvSpPr txBox="1"/>
            <p:nvPr/>
          </p:nvSpPr>
          <p:spPr>
            <a:xfrm>
              <a:off x="127000" y="-38100"/>
              <a:ext cx="2970690" cy="467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-31986" y="9686626"/>
            <a:ext cx="18351972" cy="600374"/>
            <a:chOff x="0" y="-38100"/>
            <a:chExt cx="4833441" cy="158123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10416931" y="641445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7" name="Google Shape;417;p12"/>
          <p:cNvSpPr/>
          <p:nvPr/>
        </p:nvSpPr>
        <p:spPr>
          <a:xfrm>
            <a:off x="10416931" y="713841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8" name="Google Shape;418;p12"/>
          <p:cNvSpPr/>
          <p:nvPr/>
        </p:nvSpPr>
        <p:spPr>
          <a:xfrm>
            <a:off x="10416931" y="786008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9" name="Google Shape;419;p12"/>
          <p:cNvSpPr/>
          <p:nvPr/>
        </p:nvSpPr>
        <p:spPr>
          <a:xfrm>
            <a:off x="10416931" y="858404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0" name="Google Shape;420;p12"/>
          <p:cNvSpPr txBox="1"/>
          <p:nvPr/>
        </p:nvSpPr>
        <p:spPr>
          <a:xfrm>
            <a:off x="1501954" y="4119258"/>
            <a:ext cx="15284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A2D9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Thoughts &amp; Clarifying Questions</a:t>
            </a:r>
            <a:endParaRPr sz="100"/>
          </a:p>
        </p:txBody>
      </p:sp>
      <p:sp>
        <p:nvSpPr>
          <p:cNvPr id="421" name="Google Shape;421;p12"/>
          <p:cNvSpPr/>
          <p:nvPr/>
        </p:nvSpPr>
        <p:spPr>
          <a:xfrm>
            <a:off x="7010400" y="666240"/>
            <a:ext cx="3135134" cy="3336532"/>
          </a:xfrm>
          <a:custGeom>
            <a:rect b="b" l="l" r="r" t="t"/>
            <a:pathLst>
              <a:path extrusionOk="0" h="3336532" w="3135134">
                <a:moveTo>
                  <a:pt x="0" y="0"/>
                </a:moveTo>
                <a:lnTo>
                  <a:pt x="3135134" y="0"/>
                </a:lnTo>
                <a:lnTo>
                  <a:pt x="3135134" y="3336532"/>
                </a:lnTo>
                <a:lnTo>
                  <a:pt x="0" y="333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2" name="Google Shape;422;p12"/>
          <p:cNvSpPr/>
          <p:nvPr/>
        </p:nvSpPr>
        <p:spPr>
          <a:xfrm>
            <a:off x="3417020" y="6414450"/>
            <a:ext cx="6408675" cy="2843850"/>
          </a:xfrm>
          <a:custGeom>
            <a:rect b="b" l="l" r="r" t="t"/>
            <a:pathLst>
              <a:path extrusionOk="0" h="2843850" w="6408675">
                <a:moveTo>
                  <a:pt x="0" y="0"/>
                </a:moveTo>
                <a:lnTo>
                  <a:pt x="6408676" y="0"/>
                </a:lnTo>
                <a:lnTo>
                  <a:pt x="6408676" y="2843850"/>
                </a:lnTo>
                <a:lnTo>
                  <a:pt x="0" y="284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421" y="6744952"/>
            <a:ext cx="2211205" cy="22112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 txBox="1"/>
          <p:nvPr/>
        </p:nvSpPr>
        <p:spPr>
          <a:xfrm>
            <a:off x="11001455" y="6448088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(404) 527-0080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1001455" y="7172055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turnerseminary.org 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1001455" y="7893717"/>
            <a:ext cx="4771945" cy="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aneal@turnerseminary.org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11001455" y="8617684"/>
            <a:ext cx="3698918" cy="64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702 Martin Luther King Jr. Dr. SW,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Atlanta, GA 30314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