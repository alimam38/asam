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A235A"/>
              </a:solidFill>
              <a:effectLst/>
            </c:spPr>
          </c:dPt>
          <c:dPt>
            <c:idx val="1"/>
            <c:bubble3D val="0"/>
            <c:spPr>
              <a:solidFill>
                <a:srgbClr val="C49B30"/>
              </a:solidFill>
              <a:effectLst/>
            </c:spPr>
          </c:dPt>
          <c:dPt>
            <c:idx val="2"/>
            <c:bubble3D val="0"/>
            <c:spPr>
              <a:solidFill>
                <a:srgbClr val="00796B"/>
              </a:solidFill>
              <a:effectLst/>
            </c:spPr>
          </c:dPt>
          <c:dPt>
            <c:idx val="3"/>
            <c:bubble3D val="0"/>
            <c:spPr>
              <a:solidFill>
                <a:srgbClr val="8E6BBE"/>
              </a:solidFill>
              <a:effectLst/>
            </c:spPr>
          </c:dPt>
          <c:dPt>
            <c:idx val="4"/>
            <c:bubble3D val="0"/>
            <c:spPr>
              <a:solidFill>
                <a:srgbClr val="E8E4DF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Housing &amp; Auxiliary</c:v>
                </c:pt>
                <c:pt idx="1">
                  <c:v>AME Church Support</c:v>
                </c:pt>
                <c:pt idx="2">
                  <c:v>Net Tuition &amp; Fees</c:v>
                </c:pt>
                <c:pt idx="3">
                  <c:v>Donations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1259192</c:v>
                </c:pt>
                <c:pt idx="1">
                  <c:v>256675</c:v>
                </c:pt>
                <c:pt idx="2">
                  <c:v>86470</c:v>
                </c:pt>
                <c:pt idx="3">
                  <c:v>57441</c:v>
                </c:pt>
                <c:pt idx="4">
                  <c:v>2302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D2D2D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Tuition</c:v>
                </c:pt>
              </c:strCache>
            </c:strRef>
          </c:tx>
          <c:spPr>
            <a:solidFill>
              <a:srgbClr val="4A23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MDiv</c:v>
                  </c:pt>
                  <c:pt idx="1">
                    <c:v>CIT</c:v>
                  </c:pt>
                  <c:pt idx="2">
                    <c:v>LLMV</c:v>
                  </c:pt>
                  <c:pt idx="3">
                    <c:v>CWJ</c:v>
                  </c:pt>
                  <c:pt idx="4">
                    <c:v>Other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708380</c:v>
                </c:pt>
                <c:pt idx="1">
                  <c:v>49832</c:v>
                </c:pt>
                <c:pt idx="2">
                  <c:v>14175</c:v>
                </c:pt>
                <c:pt idx="3">
                  <c:v>18000</c:v>
                </c:pt>
                <c:pt idx="4">
                  <c:v>224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Institutional Aid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MDiv</c:v>
                  </c:pt>
                  <c:pt idx="1">
                    <c:v>CIT</c:v>
                  </c:pt>
                  <c:pt idx="2">
                    <c:v>LLMV</c:v>
                  </c:pt>
                  <c:pt idx="3">
                    <c:v>CWJ</c:v>
                  </c:pt>
                  <c:pt idx="4">
                    <c:v>Other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708550</c:v>
                </c:pt>
                <c:pt idx="1">
                  <c:v>27250</c:v>
                </c:pt>
                <c:pt idx="2">
                  <c:v>0</c:v>
                </c:pt>
                <c:pt idx="3">
                  <c:v>18000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4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Expenses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A235A"/>
              </a:solidFill>
              <a:effectLst/>
            </c:spPr>
          </c:dPt>
          <c:dPt>
            <c:idx val="1"/>
            <c:bubble3D val="0"/>
            <c:spPr>
              <a:solidFill>
                <a:srgbClr val="C49B30"/>
              </a:solidFill>
              <a:effectLst/>
            </c:spPr>
          </c:dPt>
          <c:dPt>
            <c:idx val="2"/>
            <c:bubble3D val="0"/>
            <c:spPr>
              <a:solidFill>
                <a:srgbClr val="8E6BBE"/>
              </a:solidFill>
              <a:effectLst/>
            </c:spPr>
          </c:dPt>
          <c:dPt>
            <c:idx val="3"/>
            <c:bubble3D val="0"/>
            <c:spPr>
              <a:solidFill>
                <a:srgbClr val="00796B"/>
              </a:solidFill>
              <a:effectLst/>
            </c:spPr>
          </c:dPt>
          <c:dPt>
            <c:idx val="4"/>
            <c:bubble3D val="0"/>
            <c:spPr>
              <a:solidFill>
                <a:srgbClr val="C62828"/>
              </a:solidFill>
              <a:effectLst/>
            </c:spPr>
          </c:dPt>
          <c:dPt>
            <c:idx val="5"/>
            <c:bubble3D val="0"/>
            <c:spPr>
              <a:solidFill>
                <a:srgbClr val="5C6BC0"/>
              </a:solidFill>
              <a:effectLst/>
            </c:spPr>
          </c:dPt>
          <c:dPt>
            <c:idx val="6"/>
            <c:bubble3D val="0"/>
            <c:spPr>
              <a:solidFill>
                <a:srgbClr val="26A69A"/>
              </a:solidFill>
              <a:effectLst/>
            </c:spPr>
          </c:dPt>
          <c:dPt>
            <c:idx val="7"/>
            <c:bubble3D val="0"/>
            <c:spPr>
              <a:solidFill>
                <a:srgbClr val="7E57C2"/>
              </a:solidFill>
              <a:effectLst/>
            </c:spPr>
          </c:dPt>
          <c:dPt>
            <c:idx val="8"/>
            <c:bubble3D val="0"/>
            <c:spPr>
              <a:solidFill>
                <a:srgbClr val="78909C"/>
              </a:solidFill>
              <a:effectLst/>
            </c:spPr>
          </c:dPt>
          <c:dPt>
            <c:idx val="9"/>
            <c:bubble3D val="0"/>
            <c:spPr>
              <a:solidFill>
                <a:srgbClr val="E8E4DF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8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9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Sheet1!$A$2:$A$11</c:f>
              <c:strCache>
                <c:ptCount val="10"/>
                <c:pt idx="0">
                  <c:v>Compensation &amp; Benefits</c:v>
                </c:pt>
                <c:pt idx="1">
                  <c:v>Accreditation</c:v>
                </c:pt>
                <c:pt idx="2">
                  <c:v>Housing Operations</c:v>
                </c:pt>
                <c:pt idx="3">
                  <c:v>Repairs &amp; Maintenance</c:v>
                </c:pt>
                <c:pt idx="4">
                  <c:v>Insurance</c:v>
                </c:pt>
                <c:pt idx="5">
                  <c:v>Utilities</c:v>
                </c:pt>
                <c:pt idx="6">
                  <c:v>Travel</c:v>
                </c:pt>
                <c:pt idx="7">
                  <c:v>Professional Services</c:v>
                </c:pt>
                <c:pt idx="8">
                  <c:v>Technology &amp; Office</c:v>
                </c:pt>
                <c:pt idx="9">
                  <c:v>Other Operating</c:v>
                </c:pt>
              </c:strCache>
            </c:strRef>
          </c:cat>
          <c:val>
            <c:numRef>
              <c:f>Sheet1!$B$2:$B$11</c:f>
              <c:numCache>
                <c:ptCount val="10"/>
                <c:pt idx="0">
                  <c:v>772428</c:v>
                </c:pt>
                <c:pt idx="1">
                  <c:v>102725</c:v>
                </c:pt>
                <c:pt idx="2">
                  <c:v>54740</c:v>
                </c:pt>
                <c:pt idx="3">
                  <c:v>54680</c:v>
                </c:pt>
                <c:pt idx="4">
                  <c:v>38841</c:v>
                </c:pt>
                <c:pt idx="5">
                  <c:v>37055</c:v>
                </c:pt>
                <c:pt idx="6">
                  <c:v>34731</c:v>
                </c:pt>
                <c:pt idx="7">
                  <c:v>16840</c:v>
                </c:pt>
                <c:pt idx="8">
                  <c:v>67168</c:v>
                </c:pt>
                <c:pt idx="9">
                  <c:v>119846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2D2D2D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Cash &amp; Receivables</c:v>
                </c:pt>
              </c:strCache>
            </c:strRef>
          </c:tx>
          <c:spPr>
            <a:solidFill>
              <a:srgbClr val="0079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Assets</c:v>
                  </c:pt>
                  <c:pt idx="1">
                    <c:v>Liabilities &amp; Equity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291344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Fixed Assets (net)</c:v>
                </c:pt>
              </c:strCache>
            </c:strRef>
          </c:tx>
          <c:spPr>
            <a:solidFill>
              <a:srgbClr val="4A23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Assets</c:v>
                  </c:pt>
                  <c:pt idx="1">
                    <c:v>Liabilities &amp; Equity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1112701</c:v>
                </c:pt>
                <c:pt idx="1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Investments</c:v>
                </c:pt>
              </c:strCache>
            </c:strRef>
          </c:tx>
          <c:spPr>
            <a:solidFill>
              <a:srgbClr val="C49B3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Assets</c:v>
                  </c:pt>
                  <c:pt idx="1">
                    <c:v>Liabilities &amp; Equity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426094</c:v>
                </c:pt>
                <c:pt idx="1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Construction in Progress</c:v>
                </c:pt>
              </c:strCache>
            </c:strRef>
          </c:tx>
          <c:spPr>
            <a:solidFill>
              <a:srgbClr val="8E6BB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Assets</c:v>
                  </c:pt>
                  <c:pt idx="1">
                    <c:v>Liabilities &amp; Equity</c:v>
                  </c:pt>
                </c:lvl>
              </c:multiLvlStrCache>
            </c:multiLvl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424425</c:v>
                </c:pt>
                <c:pt idx="1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Liabilities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Assets</c:v>
                  </c:pt>
                  <c:pt idx="1">
                    <c:v>Liabilities &amp; Equity</c:v>
                  </c:pt>
                </c:lvl>
              </c:multiLvlStrCache>
            </c:multiLvl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0</c:v>
                </c:pt>
                <c:pt idx="1">
                  <c:v>1035928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Net Assets &amp; Equity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Assets</c:v>
                  </c:pt>
                  <c:pt idx="1">
                    <c:v>Liabilities &amp; Equity</c:v>
                  </c:pt>
                </c:lvl>
              </c:multiLvlStrCache>
            </c:multiLvlStrRef>
          </c:cat>
          <c:val>
            <c:numRef>
              <c:f>Sheet1!$G$2:$G$3</c:f>
              <c:numCache>
                <c:formatCode>General</c:formatCode>
                <c:ptCount val="2"/>
                <c:pt idx="0">
                  <c:v>0</c:v>
                </c:pt>
                <c:pt idx="1">
                  <c:v>1218636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4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Fund Balance</c:v>
                </c:pt>
              </c:strCache>
            </c:strRef>
          </c:tx>
          <c:spPr>
            <a:solidFill>
              <a:srgbClr val="4A23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D2D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Anderson</c:v>
                  </c:pt>
                  <c:pt idx="1">
                    <c:v>McCormick</c:v>
                  </c:pt>
                  <c:pt idx="2">
                    <c:v>Deveaux</c:v>
                  </c:pt>
                  <c:pt idx="3">
                    <c:v>Hudson</c:v>
                  </c:pt>
                  <c:pt idx="4">
                    <c:v>Williams</c:v>
                  </c:pt>
                  <c:pt idx="5">
                    <c:v>Cone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243109</c:v>
                </c:pt>
                <c:pt idx="1">
                  <c:v>100086</c:v>
                </c:pt>
                <c:pt idx="2">
                  <c:v>63686</c:v>
                </c:pt>
                <c:pt idx="3">
                  <c:v>8262</c:v>
                </c:pt>
                <c:pt idx="4">
                  <c:v>6496</c:v>
                </c:pt>
                <c:pt idx="5">
                  <c:v>4454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D2D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1" i="0" u="none" strike="noStrike">
                <a:solidFill>
                  <a:srgbClr val="2D2D2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4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Donations</c:v>
                </c:pt>
              </c:strCache>
            </c:strRef>
          </c:tx>
          <c:spPr>
            <a:solidFill>
              <a:srgbClr val="C49B3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D2D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Founder's Day</c:v>
                  </c:pt>
                  <c:pt idx="1">
                    <c:v>1894 Impact
Challenge</c:v>
                  </c:pt>
                  <c:pt idx="2">
                    <c:v>General
Donations</c:v>
                  </c:pt>
                  <c:pt idx="3">
                    <c:v>Alumni #Elev8
Breakfast</c:v>
                  </c:pt>
                  <c:pt idx="4">
                    <c:v>130th Founder's
Day Campaign</c:v>
                  </c:pt>
                  <c:pt idx="5">
                    <c:v>Giving
Tuesday</c:v>
                  </c:pt>
                  <c:pt idx="6">
                    <c:v>Other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21656</c:v>
                </c:pt>
                <c:pt idx="1">
                  <c:v>17900</c:v>
                </c:pt>
                <c:pt idx="2">
                  <c:v>16317</c:v>
                </c:pt>
                <c:pt idx="3">
                  <c:v>2000</c:v>
                </c:pt>
                <c:pt idx="4">
                  <c:v>1320</c:v>
                </c:pt>
                <c:pt idx="5">
                  <c:v>1140</c:v>
                </c:pt>
                <c:pt idx="6">
                  <c:v>1108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D2D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D2D2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4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Housing Revenue</c:v>
                </c:pt>
              </c:strCache>
            </c:strRef>
          </c:tx>
          <c:spPr>
            <a:solidFill>
              <a:srgbClr val="8E6BB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D2D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Housing Rentals</c:v>
                  </c:pt>
                  <c:pt idx="1">
                    <c:v>CORT Furniture
Lease Revenue</c:v>
                  </c:pt>
                  <c:pt idx="2">
                    <c:v>Facility Rentals</c:v>
                  </c:pt>
                  <c:pt idx="3">
                    <c:v>Other Auxiliary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1163154</c:v>
                </c:pt>
                <c:pt idx="1">
                  <c:v>83356</c:v>
                </c:pt>
                <c:pt idx="2">
                  <c:v>11182</c:v>
                </c:pt>
                <c:pt idx="3">
                  <c:v>1500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D2D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D2D2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4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9B3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49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TURNER THEOLOGICAL SEMINARY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of the Institution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5E6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Report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1828800" cy="36576"/>
          </a:xfrm>
          <a:prstGeom prst="rect">
            <a:avLst/>
          </a:prstGeom>
          <a:solidFill>
            <a:srgbClr val="C49B3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 Year 2025–2026  |  July 2025 – January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the Office of Business &amp; Finance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49B3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23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2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Snapshot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Months Ended January 31, 2026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2560320" cy="54864"/>
          </a:xfrm>
          <a:prstGeom prst="rect">
            <a:avLst/>
          </a:prstGeom>
          <a:solidFill>
            <a:srgbClr val="4A235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08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7830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2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$1.66M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85800" y="2331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Diversified across 4 streams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37160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371600"/>
            <a:ext cx="256032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508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Income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20440" y="17830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$385K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520440" y="2331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23.2% net margin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37160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371600"/>
            <a:ext cx="2560320" cy="54864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1508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Assets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55080" y="17830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7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$2.25M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355080" y="2331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$426K in investments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108960"/>
            <a:ext cx="256032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246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Margin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" y="35204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21.8%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85800" y="4069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exceeds expenses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83280" y="310896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83280" y="3108960"/>
            <a:ext cx="2560320" cy="54864"/>
          </a:xfrm>
          <a:prstGeom prst="rect">
            <a:avLst/>
          </a:prstGeom>
          <a:solidFill>
            <a:srgbClr val="C49B30"/>
          </a:solidFill>
          <a:ln/>
        </p:spPr>
      </p:sp>
      <p:sp>
        <p:nvSpPr>
          <p:cNvPr id="27" name="Text 25"/>
          <p:cNvSpPr/>
          <p:nvPr/>
        </p:nvSpPr>
        <p:spPr>
          <a:xfrm>
            <a:off x="3520440" y="3246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 Investment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520440" y="35204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49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$754K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3520440" y="4069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95.3% tuition aid rate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310896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3108960"/>
            <a:ext cx="2560320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2" name="Text 30"/>
          <p:cNvSpPr/>
          <p:nvPr/>
        </p:nvSpPr>
        <p:spPr>
          <a:xfrm>
            <a:off x="6355080" y="3246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of Credit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55080" y="35204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6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$904K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6355080" y="4069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87.3% of total liabilities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23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2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Composition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Revenue: $1,662,080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97280"/>
          <a:ext cx="45720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303520" y="1280160"/>
            <a:ext cx="3474720" cy="3291840"/>
          </a:xfrm>
          <a:prstGeom prst="rect">
            <a:avLst/>
          </a:prstGeom>
          <a:solidFill>
            <a:srgbClr val="F8F5F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303520" y="1280160"/>
            <a:ext cx="54864" cy="3291840"/>
          </a:xfrm>
          <a:prstGeom prst="rect">
            <a:avLst/>
          </a:prstGeom>
          <a:solidFill>
            <a:srgbClr val="C49B30"/>
          </a:solidFill>
          <a:ln/>
        </p:spPr>
      </p:sp>
      <p:sp>
        <p:nvSpPr>
          <p:cNvPr id="8" name="Text 5"/>
          <p:cNvSpPr/>
          <p:nvPr/>
        </p:nvSpPr>
        <p:spPr>
          <a:xfrm>
            <a:off x="5577840" y="14173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9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577840" y="1783080"/>
            <a:ext cx="30175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operations represent 75.9% of total revenue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diversified model enables the institution to invest $753,800 in student scholarships while maintaining operational surplus.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 include: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Rentals: $1,163,154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 District Support: $256,675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Tuition &amp; Fees (net): $86,470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Donations &amp; Gifts: $57,441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23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2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Investment in Student Access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Tuition &amp; Institutional Aid Analysis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280160"/>
          <a:ext cx="50292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669280" y="1280160"/>
            <a:ext cx="3108960" cy="3291840"/>
          </a:xfrm>
          <a:prstGeom prst="rect">
            <a:avLst/>
          </a:prstGeom>
          <a:solidFill>
            <a:srgbClr val="F8F5F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669280" y="1280160"/>
            <a:ext cx="54864" cy="3291840"/>
          </a:xfrm>
          <a:prstGeom prst="rect">
            <a:avLst/>
          </a:prstGeom>
          <a:solidFill>
            <a:srgbClr val="4A235A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0" y="14173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2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ELEV8 Promise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943600" y="1783080"/>
            <a:ext cx="26517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Tuition Revenue</a:t>
            </a:r>
            <a:endParaRPr lang="en-US" sz="1100" dirty="0"/>
          </a:p>
          <a:p>
            <a:pPr indent="0" marL="0">
              <a:buNone/>
            </a:pPr>
            <a:r>
              <a:rPr lang="en-US" sz="2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$790,611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Aid Awarded</a:t>
            </a:r>
            <a:endParaRPr lang="en-US" sz="1100" dirty="0"/>
          </a:p>
          <a:p>
            <a:pPr indent="0" marL="0">
              <a:buNone/>
            </a:pPr>
            <a:r>
              <a:rPr lang="en-US" sz="22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$753,800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Tuition Retained</a:t>
            </a:r>
            <a:endParaRPr lang="en-US" sz="1100" dirty="0"/>
          </a:p>
          <a:p>
            <a:pPr indent="0" marL="0">
              <a:buNone/>
            </a:pPr>
            <a:r>
              <a:rPr lang="en-US" sz="2200" b="1" dirty="0">
                <a:solidFill>
                  <a:srgbClr val="C49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$86,470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$1 in tuition charged, the Seminary invests $0.95 back into student access through the President's ELEV8 and Rufus Lee Memorial Scholarships.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23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2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Expense Allocation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Expenses: $1,299,054  |  Operating Margin: 21.8%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82880" y="1188720"/>
          <a:ext cx="47548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303520" y="1280160"/>
            <a:ext cx="3474720" cy="3291840"/>
          </a:xfrm>
          <a:prstGeom prst="rect">
            <a:avLst/>
          </a:prstGeom>
          <a:solidFill>
            <a:srgbClr val="F8F5F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303520" y="1280160"/>
            <a:ext cx="54864" cy="3291840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8" name="Text 5"/>
          <p:cNvSpPr/>
          <p:nvPr/>
        </p:nvSpPr>
        <p:spPr>
          <a:xfrm>
            <a:off x="5577840" y="14173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Expense Highlights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577840" y="1783080"/>
            <a:ext cx="30175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Compensation: $772,428 (59.5%)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normal range for educational institutions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Accreditation: $102,725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TRACS $52,560 | SACSCOC $29,825 | ATS $15,718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C49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rare institutional distinction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Expense: $17,970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Annualizes to ~$30,806 on LOC balance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Lease Arbitrage: +$28,616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 cost $54,740 vs. $83,356 in lease revenue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23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2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Statement of Financial Position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of January 31, 2026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188720"/>
          <a:ext cx="47548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303520" y="1188720"/>
            <a:ext cx="3474720" cy="3474720"/>
          </a:xfrm>
          <a:prstGeom prst="rect">
            <a:avLst/>
          </a:prstGeom>
          <a:solidFill>
            <a:srgbClr val="F8F5F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303520" y="1188720"/>
            <a:ext cx="54864" cy="3474720"/>
          </a:xfrm>
          <a:prstGeom prst="rect">
            <a:avLst/>
          </a:prstGeom>
          <a:solidFill>
            <a:srgbClr val="C49B30"/>
          </a:solidFill>
          <a:ln/>
        </p:spPr>
      </p:sp>
      <p:sp>
        <p:nvSpPr>
          <p:cNvPr id="8" name="Text 5"/>
          <p:cNvSpPr/>
          <p:nvPr/>
        </p:nvSpPr>
        <p:spPr>
          <a:xfrm>
            <a:off x="5577840" y="12801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9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Balance Sheet Highlights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577840" y="1645920"/>
            <a:ext cx="30175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Assets: $2,254,564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on Hand: $187,799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Receivables: $82,450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Endowed Scholarships: $426,094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Projects: $424,425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Liabilities: $1,035,928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Payable: $128,803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of Credit: $904,277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Position: $1,218,636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Debt-to-Asset Ratio: 45.9%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23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2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Endowed Scholarship Funds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Portfolio: $426,094  |  Unrealized Gains: $22,204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188720"/>
          <a:ext cx="8229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2976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endowed scholarship funds support student access across programs. Anderson Fund represents 57% of total investment portfolio. All funds showed positive investment returns during the reporting period.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23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2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Donor &amp; Campaign Engagement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Donations: $57,441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188720"/>
          <a:ext cx="8229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2976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Founder's Day and the 1894 Impact Challenge together represent 69% of all donation revenue, indicating strong heritage-driven giving. Expanding these signature campaigns offers the highest-leverage path for donation growth.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23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2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Auxiliary Enterprise: Housing Operations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Institution's Financial Engine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188720"/>
          <a:ext cx="50292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188720"/>
            <a:ext cx="3017520" cy="3200400"/>
          </a:xfrm>
          <a:prstGeom prst="rect">
            <a:avLst/>
          </a:prstGeom>
          <a:solidFill>
            <a:srgbClr val="F8F5F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60720" y="1188720"/>
            <a:ext cx="54864" cy="3200400"/>
          </a:xfrm>
          <a:prstGeom prst="rect">
            <a:avLst/>
          </a:prstGeom>
          <a:solidFill>
            <a:srgbClr val="8E6BBE"/>
          </a:solidFill>
          <a:ln/>
        </p:spPr>
      </p:sp>
      <p:sp>
        <p:nvSpPr>
          <p:cNvPr id="8" name="Text 5"/>
          <p:cNvSpPr/>
          <p:nvPr/>
        </p:nvSpPr>
        <p:spPr>
          <a:xfrm>
            <a:off x="6035040" y="1325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E6B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Housing Economics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035040" y="169164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Auxiliary Revenue</a:t>
            </a:r>
            <a:endParaRPr lang="en-US" sz="1000" dirty="0"/>
          </a:p>
          <a:p>
            <a:pPr indent="0" marL="0">
              <a:buNone/>
            </a:pPr>
            <a:r>
              <a:rPr lang="en-US" sz="24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$1,259,192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as % of Total Revenue</a:t>
            </a:r>
            <a:endParaRPr lang="en-US" sz="1000" dirty="0"/>
          </a:p>
          <a:p>
            <a:pPr indent="0" marL="0">
              <a:buNone/>
            </a:pPr>
            <a:r>
              <a:rPr lang="en-US" sz="2400" b="1" dirty="0">
                <a:solidFill>
                  <a:srgbClr val="C49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75.9%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Lease Net Gain</a:t>
            </a:r>
            <a:endParaRPr lang="en-US" sz="1000" dirty="0"/>
          </a:p>
          <a:p>
            <a:pPr indent="0" marL="0">
              <a:buNone/>
            </a:pPr>
            <a:r>
              <a:rPr lang="en-US" sz="2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+$28,616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 sublease generates net income beyond covering cost.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23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2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Areas of Strategic Focus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Forward-Looking Priorities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8046720" cy="960120"/>
          </a:xfrm>
          <a:prstGeom prst="rect">
            <a:avLst/>
          </a:prstGeom>
          <a:solidFill>
            <a:srgbClr val="F8F5F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25880"/>
            <a:ext cx="54864" cy="960120"/>
          </a:xfrm>
          <a:prstGeom prst="rect">
            <a:avLst/>
          </a:prstGeom>
          <a:solidFill>
            <a:srgbClr val="C49B3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17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Receivables Collection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7373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49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$82,450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91840" y="146304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outstanding student balances. Direct outreach initiated through the Office of Business &amp; Finance to support students in resolving accounts.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8046720" cy="960120"/>
          </a:xfrm>
          <a:prstGeom prst="rect">
            <a:avLst/>
          </a:prstGeom>
          <a:solidFill>
            <a:srgbClr val="F8F5F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468880"/>
            <a:ext cx="54864" cy="9601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560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 of Credit Management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28803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6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$904,277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291840" y="260604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balance representing 87.3% of total liabilities. A structured reduction plan aligned with revenue growth will strengthen the balance sheet.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611880"/>
            <a:ext cx="8046720" cy="960120"/>
          </a:xfrm>
          <a:prstGeom prst="rect">
            <a:avLst/>
          </a:prstGeom>
          <a:solidFill>
            <a:srgbClr val="F8F5F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611880"/>
            <a:ext cx="54864" cy="960120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703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Diversification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40233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75.9%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291840" y="374904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revenue from housing. While housing is strong and stable, expanding tuition enrollment, donor engagement, and grant revenue builds resilience.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1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9B3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C49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Stewardship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Turner Theological Seminary enters the second half of Fiscal Year 2026 from a position of strength.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600" i="1" dirty="0">
                <a:solidFill>
                  <a:srgbClr val="F5E6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diversified revenue model, disciplined expense management, and a deep commitment to student access through $753,800 in institutional scholarship investment demonstrate that financial sustainability and missional generosity are not competing priorities — they are reinforcing ones.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840480"/>
            <a:ext cx="1828800" cy="36576"/>
          </a:xfrm>
          <a:prstGeom prst="rect">
            <a:avLst/>
          </a:prstGeom>
          <a:solidFill>
            <a:srgbClr val="C49B3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Turner Theological Seminary, Inc.  |  653 Beckwith Street SW, Atlanta, GA 30314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49B3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Turner Theological Seminary - State of the Institution Financial Report</dc:title>
  <dc:subject>PptxGenJS Presentation</dc:subject>
  <dc:creator>Office of Business &amp; Finance</dc:creator>
  <cp:lastModifiedBy>Office of Business &amp; Finance</cp:lastModifiedBy>
  <cp:revision>1</cp:revision>
  <dcterms:created xsi:type="dcterms:W3CDTF">2026-02-27T02:17:19Z</dcterms:created>
  <dcterms:modified xsi:type="dcterms:W3CDTF">2026-02-27T02:17:19Z</dcterms:modified>
</cp:coreProperties>
</file>