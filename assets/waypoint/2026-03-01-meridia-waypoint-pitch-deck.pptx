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"/>
          </a:xfrm>
          <a:prstGeom prst="rect">
            <a:avLst/>
          </a:prstGeom>
          <a:solidFill>
            <a:srgbClr val="C4A55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200" b="1" spc="800" kern="0" dirty="0">
                <a:solidFill>
                  <a:srgbClr val="FAFA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MERIDIA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i="1" dirty="0">
                <a:solidFill>
                  <a:srgbClr val="C4A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WayPoint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26060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300" kern="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Intelligence Infrastructure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3200400"/>
            <a:ext cx="1828800" cy="13716"/>
          </a:xfrm>
          <a:prstGeom prst="rect">
            <a:avLst/>
          </a:prstGeom>
          <a:solidFill>
            <a:srgbClr val="C4A55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33832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A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Aliman Neal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Architect</a:t>
            </a:r>
            <a:endParaRPr lang="en-US" sz="1100" dirty="0"/>
          </a:p>
          <a:p>
            <a:pPr indent="0" marL="0">
              <a:buNone/>
            </a:pPr>
            <a:r>
              <a:rPr lang="en-US" sz="9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Atlanta, GA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0" y="5129784"/>
            <a:ext cx="9144000" cy="13716"/>
          </a:xfrm>
          <a:prstGeom prst="rect">
            <a:avLst/>
          </a:prstGeom>
          <a:solidFill>
            <a:srgbClr val="C4A55A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data exists.</a:t>
            </a:r>
            <a:endParaRPr lang="en-US" sz="2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Financial intelligence doesn't.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7863840" cy="868680"/>
          </a:xfrm>
          <a:prstGeom prst="rect">
            <a:avLst/>
          </a:prstGeom>
          <a:solidFill>
            <a:srgbClr val="F5F2EB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965960"/>
            <a:ext cx="54864" cy="868680"/>
          </a:xfrm>
          <a:prstGeom prst="rect">
            <a:avLst/>
          </a:prstGeom>
          <a:solidFill>
            <a:srgbClr val="C4A55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67128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20391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Small Institutions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463040" y="233172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Seminaries, HBCUs, churches, and nonprofits run on QuickBooks reports no one fully understands. Boards receive spreadsheets, not strategy.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40080" y="2971800"/>
            <a:ext cx="7863840" cy="868680"/>
          </a:xfrm>
          <a:prstGeom prst="rect">
            <a:avLst/>
          </a:prstGeom>
          <a:solidFill>
            <a:srgbClr val="F5F2EB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" y="2971800"/>
            <a:ext cx="54864" cy="868680"/>
          </a:xfrm>
          <a:prstGeom prst="rect">
            <a:avLst/>
          </a:prstGeom>
          <a:solidFill>
            <a:srgbClr val="C4A55A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172968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0" y="30449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Underserved Households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463040" y="333756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24.5 million unbanked and underbanked households have no access to the positioning tools that drive informed financial decisions.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40080" y="3977640"/>
            <a:ext cx="7863840" cy="868680"/>
          </a:xfrm>
          <a:prstGeom prst="rect">
            <a:avLst/>
          </a:prstGeom>
          <a:solidFill>
            <a:srgbClr val="F5F2EB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40080" y="3977640"/>
            <a:ext cx="54864" cy="868680"/>
          </a:xfrm>
          <a:prstGeom prst="rect">
            <a:avLst/>
          </a:prstGeom>
          <a:solidFill>
            <a:srgbClr val="C4A55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178808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40507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Excluded Populations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463040" y="434340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ChexSystems-flagged, formerly incarcerated, and industry-penalized workers are locked out entirely — served by predatory products or nothing at all.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54864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00" dirty="0"/>
          </a:p>
        </p:txBody>
      </p:sp>
      <p:sp>
        <p:nvSpPr>
          <p:cNvPr id="20" name="Text 15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  |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data source. Governed outputs</a:t>
            </a:r>
            <a:endParaRPr lang="en-US" sz="2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for every audience.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WayPoint is an AI-powered financial intelligence platform that ingests institutional financial data and produces governed, audience-differentiated outputs — board-ready summaries, operational dashboards, compliance reports, and plain-language guidance — from a single source of truth.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2651760"/>
            <a:ext cx="1828800" cy="1828800"/>
          </a:xfrm>
          <a:prstGeom prst="rect">
            <a:avLst/>
          </a:prstGeom>
          <a:solidFill>
            <a:srgbClr val="F5F2EB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651760"/>
            <a:ext cx="1828800" cy="36576"/>
          </a:xfrm>
          <a:prstGeom prst="rect">
            <a:avLst/>
          </a:prstGeom>
          <a:solidFill>
            <a:srgbClr val="C4A55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25880" y="28346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3291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Board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" y="36118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summary,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indicators,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2697480" y="2651760"/>
            <a:ext cx="1828800" cy="1828800"/>
          </a:xfrm>
          <a:prstGeom prst="rect">
            <a:avLst/>
          </a:prstGeom>
          <a:solidFill>
            <a:srgbClr val="F5F2EB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697480" y="2651760"/>
            <a:ext cx="1828800" cy="36576"/>
          </a:xfrm>
          <a:prstGeom prst="rect">
            <a:avLst/>
          </a:prstGeom>
          <a:solidFill>
            <a:srgbClr val="C4A55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3280" y="28346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697480" y="3291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Operations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2834640" y="36118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lineage,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 methods,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health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4754880" y="2651760"/>
            <a:ext cx="1828800" cy="1828800"/>
          </a:xfrm>
          <a:prstGeom prst="rect">
            <a:avLst/>
          </a:prstGeom>
          <a:solidFill>
            <a:srgbClr val="F5F2EB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754880" y="2651760"/>
            <a:ext cx="1828800" cy="36576"/>
          </a:xfrm>
          <a:prstGeom prst="rect">
            <a:avLst/>
          </a:prstGeom>
          <a:solidFill>
            <a:srgbClr val="C4A55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283464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4754880" y="3291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892040" y="36118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trail,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adherence,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regulator-ready packs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6812280" y="2651760"/>
            <a:ext cx="1828800" cy="1828800"/>
          </a:xfrm>
          <a:prstGeom prst="rect">
            <a:avLst/>
          </a:prstGeom>
          <a:solidFill>
            <a:srgbClr val="F5F2EB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812280" y="2651760"/>
            <a:ext cx="1828800" cy="36576"/>
          </a:xfrm>
          <a:prstGeom prst="rect">
            <a:avLst/>
          </a:prstGeom>
          <a:solidFill>
            <a:srgbClr val="C4A55A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2834640"/>
            <a:ext cx="365760" cy="36576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812280" y="32918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Family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6949440" y="3611880"/>
            <a:ext cx="1554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position, action items,</a:t>
            </a:r>
            <a:endParaRPr lang="en-US" sz="8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85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next steps</a:t>
            </a:r>
            <a:endParaRPr lang="en-US" sz="850" dirty="0"/>
          </a:p>
        </p:txBody>
      </p:sp>
      <p:sp>
        <p:nvSpPr>
          <p:cNvPr id="25" name="Text 19"/>
          <p:cNvSpPr/>
          <p:nvPr/>
        </p:nvSpPr>
        <p:spPr>
          <a:xfrm>
            <a:off x="640080" y="46177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4A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Data  →  Governed Routing  →  Different Outputs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54864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00" dirty="0"/>
          </a:p>
        </p:txBody>
      </p:sp>
      <p:sp>
        <p:nvSpPr>
          <p:cNvPr id="27" name="Text 21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  |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4A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AFA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Governance-First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55448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A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914400" y="2194560"/>
            <a:ext cx="10973" cy="411480"/>
          </a:xfrm>
          <a:prstGeom prst="rect">
            <a:avLst/>
          </a:prstGeom>
          <a:solidFill>
            <a:srgbClr val="C4A55A"/>
          </a:solidFill>
          <a:ln/>
        </p:spPr>
      </p:sp>
      <p:sp>
        <p:nvSpPr>
          <p:cNvPr id="6" name="Text 4"/>
          <p:cNvSpPr/>
          <p:nvPr/>
        </p:nvSpPr>
        <p:spPr>
          <a:xfrm>
            <a:off x="1463040" y="157276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4A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63040" y="184708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financial data sources — QuickBooks, bank feeds, manual uploads. Normalize into unified schema. Detect classification errors automatically.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A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914400" y="3291840"/>
            <a:ext cx="10973" cy="411480"/>
          </a:xfrm>
          <a:prstGeom prst="rect">
            <a:avLst/>
          </a:prstGeom>
          <a:solidFill>
            <a:srgbClr val="C4A55A"/>
          </a:solidFill>
          <a:ln/>
        </p:spPr>
      </p:sp>
      <p:sp>
        <p:nvSpPr>
          <p:cNvPr id="10" name="Text 8"/>
          <p:cNvSpPr/>
          <p:nvPr/>
        </p:nvSpPr>
        <p:spPr>
          <a:xfrm>
            <a:off x="1463040" y="267004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4A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463040" y="294436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data through permission cascades. Apply role-based access. Score financial position across four dimensions. Lock sensitive insights until governance review.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74904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A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463040" y="3767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4A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463040" y="4041648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audience-specific outputs. Board sees strategy. Operations sees detail. Regulators see compliance. Families see plain language. Every score explained.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4864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  |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LINES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every tier of need.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2514600" cy="310896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463040"/>
            <a:ext cx="2514600" cy="36576"/>
          </a:xfrm>
          <a:prstGeom prst="rect">
            <a:avLst/>
          </a:prstGeom>
          <a:solidFill>
            <a:srgbClr val="C4A55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373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WayPoint Core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21945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4A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INSTITUTIONS &amp; HOUSEHOLDS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868680" y="2606040"/>
            <a:ext cx="1097280" cy="9144"/>
          </a:xfrm>
          <a:prstGeom prst="rect">
            <a:avLst/>
          </a:prstGeom>
          <a:solidFill>
            <a:srgbClr val="C4A55A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78892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positioning, report generation, and governance dashboards for small organizations and families building financial stability.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383280" y="1463040"/>
            <a:ext cx="2514600" cy="3108960"/>
          </a:xfrm>
          <a:prstGeom prst="rect">
            <a:avLst/>
          </a:prstGeom>
          <a:solidFill>
            <a:srgbClr val="5A4A3A"/>
          </a:solidFill>
          <a:ln/>
        </p:spPr>
      </p:sp>
      <p:sp>
        <p:nvSpPr>
          <p:cNvPr id="11" name="Shape 9"/>
          <p:cNvSpPr/>
          <p:nvPr/>
        </p:nvSpPr>
        <p:spPr>
          <a:xfrm>
            <a:off x="3383280" y="1463040"/>
            <a:ext cx="2514600" cy="36576"/>
          </a:xfrm>
          <a:prstGeom prst="rect">
            <a:avLst/>
          </a:prstGeom>
          <a:solidFill>
            <a:srgbClr val="C4A55A"/>
          </a:solidFill>
          <a:ln/>
        </p:spPr>
      </p:sp>
      <p:sp>
        <p:nvSpPr>
          <p:cNvPr id="12" name="Text 10"/>
          <p:cNvSpPr/>
          <p:nvPr/>
        </p:nvSpPr>
        <p:spPr>
          <a:xfrm>
            <a:off x="3611880" y="17373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WayPoint Renaissance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11880" y="21945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4A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RE-ENTRY &amp; EXCLUDED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3611880" y="2606040"/>
            <a:ext cx="1097280" cy="9144"/>
          </a:xfrm>
          <a:prstGeom prst="rect">
            <a:avLst/>
          </a:prstGeom>
          <a:solidFill>
            <a:srgbClr val="C4A55A"/>
          </a:solidFill>
          <a:ln/>
        </p:spPr>
      </p:sp>
      <p:sp>
        <p:nvSpPr>
          <p:cNvPr id="15" name="Text 13"/>
          <p:cNvSpPr/>
          <p:nvPr/>
        </p:nvSpPr>
        <p:spPr>
          <a:xfrm>
            <a:off x="3611880" y="278892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for people excluded from traditional banking — ChexSystems flagged, prepaid-only, formerly incarcerated. Dignity-first financial intelligence.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126480" y="1463040"/>
            <a:ext cx="2514600" cy="3108960"/>
          </a:xfrm>
          <a:prstGeom prst="rect">
            <a:avLst/>
          </a:prstGeom>
          <a:solidFill>
            <a:srgbClr val="8B7355"/>
          </a:solidFill>
          <a:ln/>
        </p:spPr>
      </p:sp>
      <p:sp>
        <p:nvSpPr>
          <p:cNvPr id="17" name="Shape 15"/>
          <p:cNvSpPr/>
          <p:nvPr/>
        </p:nvSpPr>
        <p:spPr>
          <a:xfrm>
            <a:off x="6126480" y="1463040"/>
            <a:ext cx="2514600" cy="36576"/>
          </a:xfrm>
          <a:prstGeom prst="rect">
            <a:avLst/>
          </a:prstGeom>
          <a:solidFill>
            <a:srgbClr val="C4A55A"/>
          </a:solidFill>
          <a:ln/>
        </p:spPr>
      </p:sp>
      <p:sp>
        <p:nvSpPr>
          <p:cNvPr id="18" name="Text 16"/>
          <p:cNvSpPr/>
          <p:nvPr/>
        </p:nvSpPr>
        <p:spPr>
          <a:xfrm>
            <a:off x="6355080" y="17373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AFA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WayPoint Edge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55080" y="2194560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C4A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UNDERSERVED VERTICALS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6355080" y="2606040"/>
            <a:ext cx="1097280" cy="9144"/>
          </a:xfrm>
          <a:prstGeom prst="rect">
            <a:avLst/>
          </a:prstGeom>
          <a:solidFill>
            <a:srgbClr val="C4A55A"/>
          </a:solidFill>
          <a:ln/>
        </p:spPr>
      </p:sp>
      <p:sp>
        <p:nvSpPr>
          <p:cNvPr id="21" name="Text 19"/>
          <p:cNvSpPr/>
          <p:nvPr/>
        </p:nvSpPr>
        <p:spPr>
          <a:xfrm>
            <a:off x="6355080" y="2788920"/>
            <a:ext cx="2057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900" dirty="0">
                <a:solidFill>
                  <a:srgbClr val="D4C5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 for industries in permanent penalty boxes — creators, cannabis operators, seasonal trades, gig economy. Banking access meets financial governance.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0080" y="46634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Dignity over charity. Sophistication for every tier — not watered-down products for excluded populations.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4864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Underserved institutions and households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represent a multi-billion dollar gap.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2560320" cy="1280160"/>
          </a:xfrm>
          <a:prstGeom prst="rect">
            <a:avLst/>
          </a:prstGeom>
          <a:solidFill>
            <a:srgbClr val="F5F2EB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9659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1.4M+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560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U.S. nonprofits</a:t>
            </a:r>
            <a:endParaRPr lang="en-US" sz="9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$1M budget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474720" y="1828800"/>
            <a:ext cx="2560320" cy="1280160"/>
          </a:xfrm>
          <a:prstGeom prst="rect">
            <a:avLst/>
          </a:prstGeom>
          <a:solidFill>
            <a:srgbClr val="F5F2EB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474720" y="19659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700+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3474720" y="2560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HBCUs &amp; minority-</a:t>
            </a:r>
            <a:endParaRPr lang="en-US" sz="9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 institutions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309360" y="1828800"/>
            <a:ext cx="2560320" cy="1280160"/>
          </a:xfrm>
          <a:prstGeom prst="rect">
            <a:avLst/>
          </a:prstGeom>
          <a:solidFill>
            <a:srgbClr val="F5F2EB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309360" y="196596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5,000+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309360" y="25603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AME churches</a:t>
            </a:r>
            <a:endParaRPr lang="en-US" sz="9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0080" y="3337560"/>
            <a:ext cx="2560320" cy="1280160"/>
          </a:xfrm>
          <a:prstGeom prst="rect">
            <a:avLst/>
          </a:prstGeom>
          <a:solidFill>
            <a:srgbClr val="F5F2EB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0080" y="34747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24.5M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40080" y="4069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Unbanked/underbanked</a:t>
            </a:r>
            <a:endParaRPr lang="en-US" sz="9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474720" y="3337560"/>
            <a:ext cx="2560320" cy="1280160"/>
          </a:xfrm>
          <a:prstGeom prst="rect">
            <a:avLst/>
          </a:prstGeom>
          <a:solidFill>
            <a:srgbClr val="F5F2EB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474720" y="34747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$3.4B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3474720" y="4069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wellness</a:t>
            </a:r>
            <a:endParaRPr lang="en-US" sz="9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(2025)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309360" y="3337560"/>
            <a:ext cx="2560320" cy="1280160"/>
          </a:xfrm>
          <a:prstGeom prst="rect">
            <a:avLst/>
          </a:prstGeom>
          <a:solidFill>
            <a:srgbClr val="1A1A1A"/>
          </a:solidFill>
          <a:ln/>
          <a:effectLst>
            <a:outerShdw sx="100000" sy="100000" kx="0" ky="0" algn="bl" rotWithShape="0" blurRad="50800" dist="254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309360" y="34747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4A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$0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6309360" y="40690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Governed intelligence</a:t>
            </a:r>
            <a:endParaRPr lang="en-US" sz="9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9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available to them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4864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  |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4A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A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a pitch. A prototype.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554480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51560" y="1508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A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Working Frontend Prototype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1051560" y="1764792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financial positioning console with governance panel, guided tour, entity interaction, and scenario engine</a:t>
            </a:r>
            <a:endParaRPr lang="en-US" sz="9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212848"/>
            <a:ext cx="256032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051560" y="216712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A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PostgreSQL Database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1051560" y="242316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on dedicated NAS infrastructure — 17 tables, 2 views, 6,030 education standards loaded with full hierarchy</a:t>
            </a:r>
            <a:endParaRPr lang="en-US" sz="9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871216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51560" y="28254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A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Pipeline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1051560" y="3081528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Extraction, transformation, and loading toolkit built and tested against Georgia CASE API for education standards</a:t>
            </a:r>
            <a:endParaRPr lang="en-US" sz="9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529584"/>
            <a:ext cx="256032" cy="256032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051560" y="34838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A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 Documentation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1051560" y="3739896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system specification including API schemas, entity models, product tier definitions, and governance cascades</a:t>
            </a:r>
            <a:endParaRPr lang="en-US" sz="9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187952"/>
            <a:ext cx="256032" cy="256032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51560" y="41422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A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Institutional Validation</a:t>
            </a:r>
            <a:endParaRPr lang="en-US" sz="1200" dirty="0"/>
          </a:p>
        </p:txBody>
      </p:sp>
      <p:sp>
        <p:nvSpPr>
          <p:cNvPr id="18" name="Text 11"/>
          <p:cNvSpPr/>
          <p:nvPr/>
        </p:nvSpPr>
        <p:spPr>
          <a:xfrm>
            <a:off x="1051560" y="4398264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Architect at Genuine Parts and VP Global Card Operations at JPMC validating architecture and use case</a:t>
            </a:r>
            <a:endParaRPr lang="en-US" sz="900" dirty="0"/>
          </a:p>
        </p:txBody>
      </p:sp>
      <p:sp>
        <p:nvSpPr>
          <p:cNvPr id="19" name="Shape 12"/>
          <p:cNvSpPr/>
          <p:nvPr/>
        </p:nvSpPr>
        <p:spPr>
          <a:xfrm>
            <a:off x="640080" y="4572000"/>
            <a:ext cx="7863840" cy="13716"/>
          </a:xfrm>
          <a:prstGeom prst="rect">
            <a:avLst/>
          </a:prstGeom>
          <a:solidFill>
            <a:srgbClr val="C4A55A"/>
          </a:solidFill>
          <a:ln/>
        </p:spPr>
      </p:sp>
      <p:sp>
        <p:nvSpPr>
          <p:cNvPr id="20" name="Text 13"/>
          <p:cNvSpPr/>
          <p:nvPr/>
        </p:nvSpPr>
        <p:spPr>
          <a:xfrm>
            <a:off x="54864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700" dirty="0"/>
          </a:p>
        </p:txBody>
      </p:sp>
      <p:sp>
        <p:nvSpPr>
          <p:cNvPr id="21" name="Text 14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  |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SaaS revenue with tiered pricing</a:t>
            </a:r>
            <a:endParaRPr lang="en-US" sz="2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institution size and complexity.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7863840" cy="41148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8745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A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Tier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840480" y="18745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A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Point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760720" y="18745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4A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Market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2286000"/>
            <a:ext cx="7863840" cy="457200"/>
          </a:xfrm>
          <a:prstGeom prst="rect">
            <a:avLst/>
          </a:prstGeom>
          <a:solidFill>
            <a:srgbClr val="F5F2EB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2331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— Small Institution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840480" y="233172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A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$2,000 / year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760720" y="2331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Churches, nonprofits, seminaries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" y="2788920"/>
            <a:ext cx="7863840" cy="457200"/>
          </a:xfrm>
          <a:prstGeom prst="rect">
            <a:avLst/>
          </a:prstGeom>
          <a:solidFill>
            <a:srgbClr val="FAFAF8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8346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— Household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840480" y="28346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A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$25 / month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760720" y="2834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 building financial stability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40080" y="3291840"/>
            <a:ext cx="7863840" cy="457200"/>
          </a:xfrm>
          <a:prstGeom prst="rect">
            <a:avLst/>
          </a:prstGeom>
          <a:solidFill>
            <a:srgbClr val="F5F2EB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3375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Renaissance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840480" y="33375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A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$15 / month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760720" y="3337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Re-entry and excluded populations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40080" y="3794760"/>
            <a:ext cx="7863840" cy="457200"/>
          </a:xfrm>
          <a:prstGeom prst="rect">
            <a:avLst/>
          </a:prstGeom>
          <a:solidFill>
            <a:srgbClr val="FAFAF8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8404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 — Vertical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840480" y="38404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4A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$3,600 / year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760720" y="38404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Cannabis, creator, gig economy operators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40080" y="425196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40080" y="44805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with institutional pilot at theological seminary (live environment). Scale through AME church network (5,000+ congregations), HBCU alumni associations, and Alpha Phi Alpha fraternal network. Each institution becomes a case study for the next.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4864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  |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Aliman Neal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Architect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systems architect and financial operations professional with 15+ years implementing and managing ERP platforms across institutional environments.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manages financial operations at a theological seminary — the same institution serving as WayPoint's first pilot. He sees the problem every day because he lives inside it.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wasn't designed from a whiteboard. It was designed from a balance sheet that nobody could read, a board that couldn't get straight answers, and a Controller whose posting errors take longer to fix than to make.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577840" y="169164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577840" y="1874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Accounting · MBA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577840" y="224028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Systems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5577840" y="24231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· Oracle · Microsoft Dynamics · Great Plains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577840" y="278892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577840" y="29718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Coca-Cola · CDC Software · Fort Valley State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577840" y="333756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</a:t>
            </a:r>
            <a:endParaRPr lang="en-US" sz="700" dirty="0"/>
          </a:p>
        </p:txBody>
      </p:sp>
      <p:sp>
        <p:nvSpPr>
          <p:cNvPr id="13" name="Text 11"/>
          <p:cNvSpPr/>
          <p:nvPr/>
        </p:nvSpPr>
        <p:spPr>
          <a:xfrm>
            <a:off x="5577840" y="352044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NMLS Licensed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577840" y="3886200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spc="200" kern="0" dirty="0">
                <a:solidFill>
                  <a:srgbClr val="8B73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Validators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5577840" y="406908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Keith Mosley — Enterprise Architect, Genuine Parts</a:t>
            </a:r>
            <a:endParaRPr lang="en-US" sz="9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 Waits — VP Global Card Ops, JPMC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4864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700" dirty="0"/>
          </a:p>
        </p:txBody>
      </p:sp>
      <p:sp>
        <p:nvSpPr>
          <p:cNvPr id="17" name="Text 15"/>
          <p:cNvSpPr/>
          <p:nvPr/>
        </p:nvSpPr>
        <p:spPr>
          <a:xfrm>
            <a:off x="548640" y="470916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  |  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C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3716"/>
          </a:xfrm>
          <a:prstGeom prst="rect">
            <a:avLst/>
          </a:prstGeom>
          <a:solidFill>
            <a:srgbClr val="C4A55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4A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AFA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$100K Pre-Seed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complete backend integration, launch institutional pilot, and onboard first ten paying clients.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46888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A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24688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463040" y="26974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integration, API development, report generator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640080" y="301752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A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30175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463040" y="324612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hosting, security, database scaling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356616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A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463040" y="35661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&amp; GTM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63040" y="37947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pilot, onboarding first 10 clients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4114800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4A5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15%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463040" y="41148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A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Compliance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463040" y="434340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structure, regulatory framework, IP protection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0080" y="4572000"/>
            <a:ext cx="7863840" cy="13716"/>
          </a:xfrm>
          <a:prstGeom prst="rect">
            <a:avLst/>
          </a:prstGeom>
          <a:solidFill>
            <a:srgbClr val="C4A55A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46634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AFAF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MERIDIA</a:t>
            </a:r>
            <a:pPr indent="0" marL="0">
              <a:buNone/>
            </a:pPr>
            <a:r>
              <a:rPr lang="en-US" sz="900" dirty="0">
                <a:solidFill>
                  <a:srgbClr val="8B8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|    aliman@meridiaholdings.com    |    Atlanta, GA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Meridia — WayPoint: Financial Intelligence Infrastructure</dc:title>
  <dc:subject>PptxGenJS Presentation</dc:subject>
  <dc:creator>Aliman Neal</dc:creator>
  <cp:lastModifiedBy>Aliman Neal</cp:lastModifiedBy>
  <cp:revision>1</cp:revision>
  <dcterms:created xsi:type="dcterms:W3CDTF">2026-03-01T21:35:35Z</dcterms:created>
  <dcterms:modified xsi:type="dcterms:W3CDTF">2026-03-01T21:35:35Z</dcterms:modified>
</cp:coreProperties>
</file>