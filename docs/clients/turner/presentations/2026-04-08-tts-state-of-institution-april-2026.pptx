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8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1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2.jpg"/><Relationship Id="rId5" Type="http://schemas.openxmlformats.org/officeDocument/2006/relationships/image" Target="../media/image8.png"/><Relationship Id="rId6" Type="http://schemas.openxmlformats.org/officeDocument/2006/relationships/image" Target="../media/image1.png"/><Relationship Id="rId7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18.png"/><Relationship Id="rId5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13.jpg"/><Relationship Id="rId5" Type="http://schemas.openxmlformats.org/officeDocument/2006/relationships/image" Target="../media/image16.png"/><Relationship Id="rId6" Type="http://schemas.openxmlformats.org/officeDocument/2006/relationships/image" Target="../media/image14.png"/><Relationship Id="rId7" Type="http://schemas.openxmlformats.org/officeDocument/2006/relationships/image" Target="../media/image11.png"/><Relationship Id="rId8" Type="http://schemas.openxmlformats.org/officeDocument/2006/relationships/image" Target="../media/image9.png"/><Relationship Id="rId9" Type="http://schemas.openxmlformats.org/officeDocument/2006/relationships/image" Target="../media/image12.png"/><Relationship Id="rId10" Type="http://schemas.openxmlformats.org/officeDocument/2006/relationships/image" Target="../media/image19.png"/><Relationship Id="rId1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28518" l="124" r="3545" t="24623"/>
          <a:stretch/>
        </p:blipFill>
        <p:spPr>
          <a:xfrm>
            <a:off x="537299" y="14992"/>
            <a:ext cx="17723025" cy="484930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9" name="Google Shape;89;p1"/>
          <p:cNvGrpSpPr/>
          <p:nvPr/>
        </p:nvGrpSpPr>
        <p:grpSpPr>
          <a:xfrm>
            <a:off x="0" y="-144661"/>
            <a:ext cx="537299" cy="10431661"/>
            <a:chOff x="0" y="-38100"/>
            <a:chExt cx="141511" cy="2747433"/>
          </a:xfrm>
        </p:grpSpPr>
        <p:sp>
          <p:nvSpPr>
            <p:cNvPr id="90" name="Google Shape;90;p1"/>
            <p:cNvSpPr/>
            <p:nvPr/>
          </p:nvSpPr>
          <p:spPr>
            <a:xfrm>
              <a:off x="0" y="0"/>
              <a:ext cx="141511" cy="2709333"/>
            </a:xfrm>
            <a:custGeom>
              <a:rect b="b" l="l" r="r" t="t"/>
              <a:pathLst>
                <a:path extrusionOk="0" h="2709333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1" name="Google Shape;91;p1"/>
            <p:cNvSpPr txBox="1"/>
            <p:nvPr/>
          </p:nvSpPr>
          <p:spPr>
            <a:xfrm>
              <a:off x="0" y="-38100"/>
              <a:ext cx="141511" cy="27474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1"/>
          <p:cNvSpPr/>
          <p:nvPr/>
        </p:nvSpPr>
        <p:spPr>
          <a:xfrm>
            <a:off x="11948842" y="8399151"/>
            <a:ext cx="1163662" cy="1238414"/>
          </a:xfrm>
          <a:custGeom>
            <a:rect b="b" l="l" r="r" t="t"/>
            <a:pathLst>
              <a:path extrusionOk="0" h="1238414" w="1163662">
                <a:moveTo>
                  <a:pt x="0" y="0"/>
                </a:moveTo>
                <a:lnTo>
                  <a:pt x="1163662" y="0"/>
                </a:lnTo>
                <a:lnTo>
                  <a:pt x="1163662" y="1238415"/>
                </a:lnTo>
                <a:lnTo>
                  <a:pt x="0" y="123841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93" name="Google Shape;93;p1"/>
          <p:cNvSpPr txBox="1"/>
          <p:nvPr/>
        </p:nvSpPr>
        <p:spPr>
          <a:xfrm>
            <a:off x="13223529" y="8638707"/>
            <a:ext cx="544418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6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Historic in Legacy.  New in Vision.</a:t>
            </a:r>
            <a:endParaRPr/>
          </a:p>
        </p:txBody>
      </p:sp>
      <p:grpSp>
        <p:nvGrpSpPr>
          <p:cNvPr id="94" name="Google Shape;94;p1"/>
          <p:cNvGrpSpPr/>
          <p:nvPr/>
        </p:nvGrpSpPr>
        <p:grpSpPr>
          <a:xfrm>
            <a:off x="11119900" y="8067549"/>
            <a:ext cx="537655" cy="2201797"/>
            <a:chOff x="0" y="0"/>
            <a:chExt cx="141600" cy="1138056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141511" cy="1138056"/>
            </a:xfrm>
            <a:custGeom>
              <a:rect b="b" l="l" r="r" t="t"/>
              <a:pathLst>
                <a:path extrusionOk="0" h="1138056" w="141511">
                  <a:moveTo>
                    <a:pt x="0" y="0"/>
                  </a:moveTo>
                  <a:lnTo>
                    <a:pt x="141511" y="0"/>
                  </a:lnTo>
                  <a:lnTo>
                    <a:pt x="141511" y="1138056"/>
                  </a:lnTo>
                  <a:lnTo>
                    <a:pt x="0" y="1138056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369716"/>
              <a:ext cx="141600" cy="768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7" name="Google Shape;97;p1"/>
          <p:cNvSpPr txBox="1"/>
          <p:nvPr/>
        </p:nvSpPr>
        <p:spPr>
          <a:xfrm>
            <a:off x="9139238" y="4979532"/>
            <a:ext cx="9525" cy="2803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43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 txBox="1"/>
          <p:nvPr/>
        </p:nvSpPr>
        <p:spPr>
          <a:xfrm>
            <a:off x="13192835" y="9120357"/>
            <a:ext cx="4234558" cy="65252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|</a:t>
            </a:r>
            <a:r>
              <a:rPr b="1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0" i="1" lang="en-US" sz="2439" u="none" cap="none" strike="noStrike">
                <a:solidFill>
                  <a:srgbClr val="683E88"/>
                </a:solidFill>
                <a:latin typeface="Poppins"/>
                <a:ea typeface="Poppins"/>
                <a:cs typeface="Poppins"/>
                <a:sym typeface="Poppins"/>
              </a:rPr>
              <a:t>FOR A PREPARED MINISTRY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1" sz="2439" u="none" cap="none" strike="noStrike">
              <a:solidFill>
                <a:srgbClr val="683E88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99" name="Google Shape;99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846554" y="7542564"/>
            <a:ext cx="536496" cy="2133599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"/>
          <p:cNvSpPr txBox="1"/>
          <p:nvPr/>
        </p:nvSpPr>
        <p:spPr>
          <a:xfrm>
            <a:off x="561920" y="5071169"/>
            <a:ext cx="17173686" cy="21057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28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5A2D91"/>
                </a:solidFill>
                <a:latin typeface="Inter"/>
                <a:ea typeface="Inter"/>
                <a:cs typeface="Inter"/>
                <a:sym typeface="Inter"/>
              </a:rPr>
              <a:t>STATE OF THE INSTITUTION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965226" y="8437251"/>
            <a:ext cx="4376243" cy="40291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590" u="none" cap="none" strike="noStrike">
                <a:solidFill>
                  <a:srgbClr val="C9A22B"/>
                </a:solidFill>
                <a:latin typeface="Anton"/>
                <a:ea typeface="Anton"/>
                <a:cs typeface="Anton"/>
                <a:sym typeface="Anton"/>
              </a:rPr>
              <a:t>DONATE TODAY</a:t>
            </a:r>
            <a:endParaRPr/>
          </a:p>
        </p:txBody>
      </p:sp>
      <p:sp>
        <p:nvSpPr>
          <p:cNvPr id="102" name="Google Shape;102;p1"/>
          <p:cNvSpPr/>
          <p:nvPr/>
        </p:nvSpPr>
        <p:spPr>
          <a:xfrm>
            <a:off x="8752883" y="8446776"/>
            <a:ext cx="1699250" cy="1699250"/>
          </a:xfrm>
          <a:custGeom>
            <a:rect b="b" l="l" r="r" t="t"/>
            <a:pathLst>
              <a:path extrusionOk="0" h="1699250" w="1699250">
                <a:moveTo>
                  <a:pt x="0" y="0"/>
                </a:moveTo>
                <a:lnTo>
                  <a:pt x="1699250" y="0"/>
                </a:lnTo>
                <a:lnTo>
                  <a:pt x="1699250" y="1699251"/>
                </a:lnTo>
                <a:lnTo>
                  <a:pt x="0" y="16992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103" name="Google Shape;10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-5400000">
            <a:off x="3656054" y="7070367"/>
            <a:ext cx="536494" cy="4648197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"/>
          <p:cNvSpPr txBox="1"/>
          <p:nvPr/>
        </p:nvSpPr>
        <p:spPr>
          <a:xfrm>
            <a:off x="917165" y="9244282"/>
            <a:ext cx="7835718" cy="48179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501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THE</a:t>
            </a:r>
            <a:r>
              <a:rPr b="1" i="0" lang="en-US" sz="3290" u="none" cap="none" strike="noStrike">
                <a:solidFill>
                  <a:srgbClr val="FFCB0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1894 LEGACY IMPACT</a:t>
            </a:r>
            <a:r>
              <a:rPr b="0" i="0" lang="en-US" sz="3290" u="none" cap="none" strike="noStrike">
                <a:solidFill>
                  <a:srgbClr val="C9A22B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i="0" lang="en-US" sz="3290" u="none" cap="none" strike="noStrike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CAMPAIGN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EXECUTIVE OVERVIEW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FY2026 NET INCOME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$287,116 YTD through February 2026  (July 2025 – February 2026)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HOUSING REVENUE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$1,163,154 YTD  —  $337,251 above budget  (+41%)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AUDIT RESULT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Unqualified Opinion FY2025  ·  Cash-adjusted result: +$13,991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NET ASSETS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$866,041 total net assets at June 30, 2025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TRACS + TITLE IV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TRACS Candidacy confirmed  ·  Title IV PPA submitted March 20, 2026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7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242" name="Google Shape;242;p7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3" name="Google Shape;243;p7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6" name="Google Shape;246;p7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9" name="Google Shape;249;p7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7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51" name="Google Shape;251;p7"/>
          <p:cNvSpPr txBox="1"/>
          <p:nvPr/>
        </p:nvSpPr>
        <p:spPr>
          <a:xfrm>
            <a:off x="476643" y="689877"/>
            <a:ext cx="17334713" cy="994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FIVE STRATEGIC GOALS</a:t>
            </a:r>
            <a:endParaRPr/>
          </a:p>
        </p:txBody>
      </p:sp>
      <p:grpSp>
        <p:nvGrpSpPr>
          <p:cNvPr id="252" name="Google Shape;252;p7"/>
          <p:cNvGrpSpPr/>
          <p:nvPr/>
        </p:nvGrpSpPr>
        <p:grpSpPr>
          <a:xfrm>
            <a:off x="263912" y="2842533"/>
            <a:ext cx="5634684" cy="1611417"/>
            <a:chOff x="0" y="-31221"/>
            <a:chExt cx="7512912" cy="2148557"/>
          </a:xfrm>
        </p:grpSpPr>
        <p:grpSp>
          <p:nvGrpSpPr>
            <p:cNvPr id="253" name="Google Shape;25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55" name="Google Shape;25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0400" lIns="30400" spcFirstLastPara="1" rIns="30400" wrap="square" tIns="30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58" name="Google Shape;25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0400" lIns="30400" spcFirstLastPara="1" rIns="30400" wrap="square" tIns="30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7"/>
            <p:cNvSpPr txBox="1"/>
            <p:nvPr/>
          </p:nvSpPr>
          <p:spPr>
            <a:xfrm>
              <a:off x="1406465" y="90376"/>
              <a:ext cx="6002125" cy="648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1</a:t>
              </a:r>
              <a:endParaRPr/>
            </a:p>
          </p:txBody>
        </p:sp>
        <p:sp>
          <p:nvSpPr>
            <p:cNvPr id="260" name="Google Shape;260;p7"/>
            <p:cNvSpPr txBox="1"/>
            <p:nvPr/>
          </p:nvSpPr>
          <p:spPr>
            <a:xfrm>
              <a:off x="1406465" y="901681"/>
              <a:ext cx="6106447" cy="121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Educate men and women for leadership in Christ’s Church and the world.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355868" y="206702"/>
              <a:ext cx="705716" cy="53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262" name="Google Shape;262;p7"/>
          <p:cNvGrpSpPr/>
          <p:nvPr/>
        </p:nvGrpSpPr>
        <p:grpSpPr>
          <a:xfrm>
            <a:off x="304800" y="6886268"/>
            <a:ext cx="5630939" cy="2903691"/>
            <a:chOff x="0" y="-31639"/>
            <a:chExt cx="7507919" cy="3871588"/>
          </a:xfrm>
        </p:grpSpPr>
        <p:grpSp>
          <p:nvGrpSpPr>
            <p:cNvPr id="263" name="Google Shape;263;p7"/>
            <p:cNvGrpSpPr/>
            <p:nvPr/>
          </p:nvGrpSpPr>
          <p:grpSpPr>
            <a:xfrm>
              <a:off x="0" y="-31639"/>
              <a:ext cx="1000897" cy="706607"/>
              <a:chOff x="0" y="-28575"/>
              <a:chExt cx="903964" cy="638175"/>
            </a:xfrm>
          </p:grpSpPr>
          <p:sp>
            <p:nvSpPr>
              <p:cNvPr id="264" name="Google Shape;26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65" name="Google Shape;26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7150" lIns="27150" spcFirstLastPara="1" rIns="27150" wrap="square" tIns="2715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" name="Google Shape;266;p7"/>
            <p:cNvGrpSpPr/>
            <p:nvPr/>
          </p:nvGrpSpPr>
          <p:grpSpPr>
            <a:xfrm>
              <a:off x="161201" y="80856"/>
              <a:ext cx="1130678" cy="706607"/>
              <a:chOff x="0" y="-28575"/>
              <a:chExt cx="1021176" cy="638175"/>
            </a:xfrm>
          </p:grpSpPr>
          <p:sp>
            <p:nvSpPr>
              <p:cNvPr id="267" name="Google Shape;26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68" name="Google Shape;26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7150" lIns="27150" spcFirstLastPara="1" rIns="27150" wrap="square" tIns="2715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" name="Google Shape;269;p7"/>
            <p:cNvSpPr txBox="1"/>
            <p:nvPr/>
          </p:nvSpPr>
          <p:spPr>
            <a:xfrm>
              <a:off x="1425322" y="112495"/>
              <a:ext cx="6082597" cy="662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3</a:t>
              </a:r>
              <a:endParaRPr/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1425322" y="944671"/>
              <a:ext cx="6082597" cy="28952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2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Attract, support, and retain qualified students capable of fulfilling the mission of the institution, who will foster and advocate diversity; promote integrity and competence in Christian leadership; and encourage justice, reconciliation, liberation, and peace.</a:t>
              </a:r>
              <a:endParaRPr/>
            </a:p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60639" y="218233"/>
              <a:ext cx="715178" cy="52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1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72" name="Google Shape;272;p7"/>
          <p:cNvGrpSpPr/>
          <p:nvPr/>
        </p:nvGrpSpPr>
        <p:grpSpPr>
          <a:xfrm>
            <a:off x="6481730" y="5182879"/>
            <a:ext cx="5911487" cy="2246621"/>
            <a:chOff x="0" y="-31123"/>
            <a:chExt cx="7881983" cy="2995495"/>
          </a:xfrm>
        </p:grpSpPr>
        <p:grpSp>
          <p:nvGrpSpPr>
            <p:cNvPr id="273" name="Google Shape;273;p7"/>
            <p:cNvGrpSpPr/>
            <p:nvPr/>
          </p:nvGrpSpPr>
          <p:grpSpPr>
            <a:xfrm>
              <a:off x="0" y="-31123"/>
              <a:ext cx="984577" cy="695085"/>
              <a:chOff x="0" y="-28575"/>
              <a:chExt cx="903964" cy="638175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75" name="Google Shape;27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400" lIns="36400" spcFirstLastPara="1" rIns="36400" wrap="square" tIns="36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7"/>
            <p:cNvGrpSpPr/>
            <p:nvPr/>
          </p:nvGrpSpPr>
          <p:grpSpPr>
            <a:xfrm>
              <a:off x="158572" y="79537"/>
              <a:ext cx="1112241" cy="695085"/>
              <a:chOff x="0" y="-28575"/>
              <a:chExt cx="1021176" cy="638175"/>
            </a:xfrm>
          </p:grpSpPr>
          <p:sp>
            <p:nvSpPr>
              <p:cNvPr id="277" name="Google Shape;27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78" name="Google Shape;27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400" lIns="36400" spcFirstLastPara="1" rIns="36400" wrap="square" tIns="36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" name="Google Shape;279;p7"/>
            <p:cNvSpPr txBox="1"/>
            <p:nvPr/>
          </p:nvSpPr>
          <p:spPr>
            <a:xfrm>
              <a:off x="1402082" y="90124"/>
              <a:ext cx="6110831" cy="642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4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5</a:t>
              </a:r>
              <a:endParaRPr/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1402082" y="893738"/>
              <a:ext cx="6479901" cy="2070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Encourage scholarly research and publications related to African and the Diaspora African religious experience, the African American Church, and the church universal.</a:t>
              </a:r>
              <a:endParaRPr/>
            </a:p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354759" y="206236"/>
              <a:ext cx="703517" cy="528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13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12469864" y="2842533"/>
            <a:ext cx="5634684" cy="1633707"/>
            <a:chOff x="0" y="-31221"/>
            <a:chExt cx="7512912" cy="2178276"/>
          </a:xfrm>
        </p:grpSpPr>
        <p:grpSp>
          <p:nvGrpSpPr>
            <p:cNvPr id="283" name="Google Shape;28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284" name="Google Shape;28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85" name="Google Shape;28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175" lIns="33175" spcFirstLastPara="1" rIns="33175" wrap="square" tIns="33175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287" name="Google Shape;28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88" name="Google Shape;28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175" lIns="33175" spcFirstLastPara="1" rIns="33175" wrap="square" tIns="33175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7</a:t>
              </a:r>
              <a:endParaRPr/>
            </a:p>
          </p:txBody>
        </p:sp>
        <p:sp>
          <p:nvSpPr>
            <p:cNvPr id="290" name="Google Shape;290;p7"/>
            <p:cNvSpPr txBox="1"/>
            <p:nvPr/>
          </p:nvSpPr>
          <p:spPr>
            <a:xfrm>
              <a:off x="1406465" y="931400"/>
              <a:ext cx="6106447" cy="121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Ensure that the learning, working, and living environment is healthy, safe, and secure through strong administrative practices.</a:t>
              </a:r>
              <a:endParaRPr/>
            </a:p>
          </p:txBody>
        </p:sp>
        <p:sp>
          <p:nvSpPr>
            <p:cNvPr id="291" name="Google Shape;29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7</a:t>
              </a:r>
              <a:endParaRPr/>
            </a:p>
          </p:txBody>
        </p:sp>
      </p:grpSp>
      <p:grpSp>
        <p:nvGrpSpPr>
          <p:cNvPr id="292" name="Google Shape;292;p7"/>
          <p:cNvGrpSpPr/>
          <p:nvPr/>
        </p:nvGrpSpPr>
        <p:grpSpPr>
          <a:xfrm>
            <a:off x="263912" y="4929587"/>
            <a:ext cx="6430865" cy="1873519"/>
            <a:chOff x="0" y="-35632"/>
            <a:chExt cx="8574487" cy="2498025"/>
          </a:xfrm>
        </p:grpSpPr>
        <p:grpSp>
          <p:nvGrpSpPr>
            <p:cNvPr id="293" name="Google Shape;293;p7"/>
            <p:cNvGrpSpPr/>
            <p:nvPr/>
          </p:nvGrpSpPr>
          <p:grpSpPr>
            <a:xfrm>
              <a:off x="0" y="-35632"/>
              <a:ext cx="1127212" cy="795782"/>
              <a:chOff x="0" y="-28575"/>
              <a:chExt cx="903964" cy="638175"/>
            </a:xfrm>
          </p:grpSpPr>
          <p:sp>
            <p:nvSpPr>
              <p:cNvPr id="294" name="Google Shape;29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95" name="Google Shape;29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7"/>
            <p:cNvGrpSpPr/>
            <p:nvPr/>
          </p:nvGrpSpPr>
          <p:grpSpPr>
            <a:xfrm>
              <a:off x="181544" y="91060"/>
              <a:ext cx="1273370" cy="795782"/>
              <a:chOff x="0" y="-28575"/>
              <a:chExt cx="1021176" cy="638175"/>
            </a:xfrm>
          </p:grpSpPr>
          <p:sp>
            <p:nvSpPr>
              <p:cNvPr id="297" name="Google Shape;29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98" name="Google Shape;29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" name="Google Shape;299;p7"/>
            <p:cNvSpPr txBox="1"/>
            <p:nvPr/>
          </p:nvSpPr>
          <p:spPr>
            <a:xfrm>
              <a:off x="1605199" y="117167"/>
              <a:ext cx="6850225" cy="755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1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2</a:t>
              </a:r>
              <a:endParaRPr/>
            </a:p>
          </p:txBody>
        </p:sp>
        <p:sp>
          <p:nvSpPr>
            <p:cNvPr id="300" name="Google Shape;300;p7"/>
            <p:cNvSpPr txBox="1"/>
            <p:nvPr/>
          </p:nvSpPr>
          <p:spPr>
            <a:xfrm>
              <a:off x="1605199" y="1068390"/>
              <a:ext cx="6969288" cy="1394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5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Demonstrate academic excellence in teaching and research.</a:t>
              </a:r>
              <a:endParaRPr/>
            </a:p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7"/>
            <p:cNvSpPr txBox="1"/>
            <p:nvPr/>
          </p:nvSpPr>
          <p:spPr>
            <a:xfrm>
              <a:off x="406152" y="237359"/>
              <a:ext cx="805434" cy="603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33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302" name="Google Shape;302;p7"/>
          <p:cNvGrpSpPr/>
          <p:nvPr/>
        </p:nvGrpSpPr>
        <p:grpSpPr>
          <a:xfrm>
            <a:off x="6326658" y="2842533"/>
            <a:ext cx="5634684" cy="2266014"/>
            <a:chOff x="0" y="-31221"/>
            <a:chExt cx="7512912" cy="3021352"/>
          </a:xfrm>
        </p:grpSpPr>
        <p:grpSp>
          <p:nvGrpSpPr>
            <p:cNvPr id="303" name="Google Shape;30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04" name="Google Shape;30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05" name="Google Shape;30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07" name="Google Shape;30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08" name="Google Shape;30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4</a:t>
              </a:r>
              <a:endParaRPr/>
            </a:p>
          </p:txBody>
        </p:sp>
        <p:sp>
          <p:nvSpPr>
            <p:cNvPr id="310" name="Google Shape;310;p7"/>
            <p:cNvSpPr txBox="1"/>
            <p:nvPr/>
          </p:nvSpPr>
          <p:spPr>
            <a:xfrm>
              <a:off x="1406465" y="931400"/>
              <a:ext cx="6106447" cy="2058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Provide a critique, informed by the perspectives of African American and other global interpretations of Western, male-dominated theological education.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6265185" y="7320798"/>
            <a:ext cx="6052279" cy="1763224"/>
            <a:chOff x="0" y="-33534"/>
            <a:chExt cx="8069705" cy="2350965"/>
          </a:xfrm>
        </p:grpSpPr>
        <p:grpSp>
          <p:nvGrpSpPr>
            <p:cNvPr id="313" name="Google Shape;313;p7"/>
            <p:cNvGrpSpPr/>
            <p:nvPr/>
          </p:nvGrpSpPr>
          <p:grpSpPr>
            <a:xfrm>
              <a:off x="0" y="-33534"/>
              <a:ext cx="1060852" cy="748933"/>
              <a:chOff x="0" y="-28575"/>
              <a:chExt cx="903964" cy="638175"/>
            </a:xfrm>
          </p:grpSpPr>
          <p:sp>
            <p:nvSpPr>
              <p:cNvPr id="314" name="Google Shape;31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15" name="Google Shape;31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7"/>
            <p:cNvGrpSpPr/>
            <p:nvPr/>
          </p:nvGrpSpPr>
          <p:grpSpPr>
            <a:xfrm>
              <a:off x="170857" y="85699"/>
              <a:ext cx="1198406" cy="748933"/>
              <a:chOff x="0" y="-28575"/>
              <a:chExt cx="1021176" cy="638175"/>
            </a:xfrm>
          </p:grpSpPr>
          <p:sp>
            <p:nvSpPr>
              <p:cNvPr id="317" name="Google Shape;31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18" name="Google Shape;31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9" name="Google Shape;319;p7"/>
            <p:cNvSpPr txBox="1"/>
            <p:nvPr/>
          </p:nvSpPr>
          <p:spPr>
            <a:xfrm>
              <a:off x="1510701" y="119233"/>
              <a:ext cx="6446952" cy="702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95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6</a:t>
              </a:r>
              <a:endParaRPr/>
            </a:p>
          </p:txBody>
        </p:sp>
        <p:sp>
          <p:nvSpPr>
            <p:cNvPr id="320" name="Google Shape;320;p7"/>
            <p:cNvSpPr txBox="1"/>
            <p:nvPr/>
          </p:nvSpPr>
          <p:spPr>
            <a:xfrm>
              <a:off x="1510701" y="1003251"/>
              <a:ext cx="6559004" cy="1314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Attract, develop, and retain competent faculty, staff, and administrators.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1" name="Google Shape;321;p7"/>
            <p:cNvSpPr txBox="1"/>
            <p:nvPr/>
          </p:nvSpPr>
          <p:spPr>
            <a:xfrm>
              <a:off x="382242" y="208261"/>
              <a:ext cx="758018" cy="583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39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6</a:t>
              </a:r>
              <a:endParaRPr/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12469864" y="4932896"/>
            <a:ext cx="5634684" cy="2266014"/>
            <a:chOff x="0" y="-31221"/>
            <a:chExt cx="7512912" cy="3021352"/>
          </a:xfrm>
        </p:grpSpPr>
        <p:grpSp>
          <p:nvGrpSpPr>
            <p:cNvPr id="323" name="Google Shape;32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24" name="Google Shape;32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25" name="Google Shape;32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28" name="Google Shape;32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9" name="Google Shape;32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8</a:t>
              </a: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1406465" y="931400"/>
              <a:ext cx="6106447" cy="2058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Develop and sustain partnerships that enhance the education of students, provide opportunities for community service, and foster interreligious dialogue.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1" name="Google Shape;33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8</a:t>
              </a:r>
              <a:endParaRPr/>
            </a:p>
          </p:txBody>
        </p:sp>
      </p:grpSp>
      <p:grpSp>
        <p:nvGrpSpPr>
          <p:cNvPr id="332" name="Google Shape;332;p7"/>
          <p:cNvGrpSpPr/>
          <p:nvPr/>
        </p:nvGrpSpPr>
        <p:grpSpPr>
          <a:xfrm>
            <a:off x="12469864" y="7322534"/>
            <a:ext cx="5634684" cy="1953789"/>
            <a:chOff x="0" y="-31221"/>
            <a:chExt cx="7512912" cy="2605053"/>
          </a:xfrm>
        </p:grpSpPr>
        <p:grpSp>
          <p:nvGrpSpPr>
            <p:cNvPr id="333" name="Google Shape;33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34" name="Google Shape;33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35" name="Google Shape;33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37" name="Google Shape;33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38" name="Google Shape;33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9" name="Google Shape;33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9</a:t>
              </a: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1406465" y="931400"/>
              <a:ext cx="6106447" cy="1642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Maintain fiscal stability and to strengthen the financial vitality of Turner Theological Seminary.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1" name="Google Shape;34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GOALS STATUS SUMMARY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1 — ENROLLMENT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IN PROGRESS — MDiv $708K YTD (200% of budget)  ·  Aid reform underway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2 — ACADEMICS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ON TRACK — TRACS confirmed  ·  Lilly Endowment $10M awarded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3 — ACCREDITATION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ADVANCING — SACSCOC petition filed  ·  ATS self-study in progress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4 — FUNDING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STRONG / ACTION REQUIRED — Housing above budget  ·  Board giving 41.7%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5 — HUMAN RESOURCES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ON TRACK — ED of Advancement hired  ·  HR reductions implemented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GOALS 1 &amp; 2 DETAIL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Goal 1 — Enrollment: MDiv gross tuition $708,380 YTD vs $353K annual budget (200%)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Institutional aid at 95.4% of gross — scholarship limits being formalized for Fall 2026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Title IV PPA submitted March 20, 2026 — Federal aid access transforms enrollment model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Goal 2 — Academic Excellence: TRACS Candidacy confirmed in independent audit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Lilly Endowment Collaborative Shared Services Grant ($10M) awarded  ·  ATS self-study active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9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9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GOALS 3, 4 &amp; 5 DETAIL</a:t>
            </a:r>
            <a:endParaRPr/>
          </a:p>
        </p:txBody>
      </p:sp>
      <p:grpSp>
        <p:nvGrpSpPr>
          <p:cNvPr id="364" name="Google Shape;364;p9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65" name="Google Shape;365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6" name="Google Shape;366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67" name="Google Shape;367;p9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68" name="Google Shape;368;p9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69" name="Google Shape;369;p9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0" name="Google Shape;370;p9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71" name="Google Shape;371;p9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2" name="Google Shape;372;p9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9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Goal 3 — Accreditation: SACSCOC petition March 31  ·  GNPEC renewal active  ·  ATS on schedule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Goal 4 — Funding: Housing $337K above budget  ·  Endowment $405K (10% growth)  ·  Lilly $10M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A.T.I. Summer confirmed $65,800  ·  FIFA World Cup window active May 15 – Aug 10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Goal 5 — HR: Executive Director of Advancement hired  ·  Major gift cultivation program active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Board giving at 41.7% of $100K commitment — direct engagement required before June 30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1" name="Google Shape;241;p7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242" name="Google Shape;242;p7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3" name="Google Shape;243;p7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4" name="Google Shape;244;p7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245" name="Google Shape;245;p7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6" name="Google Shape;246;p7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7" name="Google Shape;247;p7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248" name="Google Shape;248;p7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249" name="Google Shape;249;p7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0" name="Google Shape;250;p7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251" name="Google Shape;251;p7"/>
          <p:cNvSpPr txBox="1"/>
          <p:nvPr/>
        </p:nvSpPr>
        <p:spPr>
          <a:xfrm>
            <a:off x="476643" y="689877"/>
            <a:ext cx="17334713" cy="9941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SACSCOC CORRECTIVE PLAN</a:t>
            </a:r>
            <a:endParaRPr/>
          </a:p>
        </p:txBody>
      </p:sp>
      <p:grpSp>
        <p:nvGrpSpPr>
          <p:cNvPr id="252" name="Google Shape;252;p7"/>
          <p:cNvGrpSpPr/>
          <p:nvPr/>
        </p:nvGrpSpPr>
        <p:grpSpPr>
          <a:xfrm>
            <a:off x="263912" y="2842533"/>
            <a:ext cx="5634684" cy="1611417"/>
            <a:chOff x="0" y="-31221"/>
            <a:chExt cx="7512912" cy="2148557"/>
          </a:xfrm>
        </p:grpSpPr>
        <p:grpSp>
          <p:nvGrpSpPr>
            <p:cNvPr id="253" name="Google Shape;25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254" name="Google Shape;25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55" name="Google Shape;25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0400" lIns="30400" spcFirstLastPara="1" rIns="30400" wrap="square" tIns="30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6" name="Google Shape;25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257" name="Google Shape;25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58" name="Google Shape;25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0400" lIns="30400" spcFirstLastPara="1" rIns="30400" wrap="square" tIns="30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9" name="Google Shape;259;p7"/>
            <p:cNvSpPr txBox="1"/>
            <p:nvPr/>
          </p:nvSpPr>
          <p:spPr>
            <a:xfrm>
              <a:off x="1406465" y="90376"/>
              <a:ext cx="6002125" cy="6481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1</a:t>
              </a:r>
              <a:endParaRPr/>
            </a:p>
          </p:txBody>
        </p:sp>
        <p:sp>
          <p:nvSpPr>
            <p:cNvPr id="260" name="Google Shape;260;p7"/>
            <p:cNvSpPr txBox="1"/>
            <p:nvPr/>
          </p:nvSpPr>
          <p:spPr>
            <a:xfrm>
              <a:off x="1406465" y="901681"/>
              <a:ext cx="6106447" cy="121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Educate men and women for leadership in Christ’s Church and the world.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61" name="Google Shape;261;p7"/>
            <p:cNvSpPr txBox="1"/>
            <p:nvPr/>
          </p:nvSpPr>
          <p:spPr>
            <a:xfrm>
              <a:off x="355868" y="206702"/>
              <a:ext cx="705716" cy="5317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262" name="Google Shape;262;p7"/>
          <p:cNvGrpSpPr/>
          <p:nvPr/>
        </p:nvGrpSpPr>
        <p:grpSpPr>
          <a:xfrm>
            <a:off x="304800" y="6886268"/>
            <a:ext cx="5630939" cy="2903691"/>
            <a:chOff x="0" y="-31639"/>
            <a:chExt cx="7507919" cy="3871588"/>
          </a:xfrm>
        </p:grpSpPr>
        <p:grpSp>
          <p:nvGrpSpPr>
            <p:cNvPr id="263" name="Google Shape;263;p7"/>
            <p:cNvGrpSpPr/>
            <p:nvPr/>
          </p:nvGrpSpPr>
          <p:grpSpPr>
            <a:xfrm>
              <a:off x="0" y="-31639"/>
              <a:ext cx="1000897" cy="706607"/>
              <a:chOff x="0" y="-28575"/>
              <a:chExt cx="903964" cy="638175"/>
            </a:xfrm>
          </p:grpSpPr>
          <p:sp>
            <p:nvSpPr>
              <p:cNvPr id="264" name="Google Shape;26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65" name="Google Shape;26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7150" lIns="27150" spcFirstLastPara="1" rIns="27150" wrap="square" tIns="2715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66" name="Google Shape;266;p7"/>
            <p:cNvGrpSpPr/>
            <p:nvPr/>
          </p:nvGrpSpPr>
          <p:grpSpPr>
            <a:xfrm>
              <a:off x="161201" y="80856"/>
              <a:ext cx="1130678" cy="706607"/>
              <a:chOff x="0" y="-28575"/>
              <a:chExt cx="1021176" cy="638175"/>
            </a:xfrm>
          </p:grpSpPr>
          <p:sp>
            <p:nvSpPr>
              <p:cNvPr id="267" name="Google Shape;26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68" name="Google Shape;26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27150" lIns="27150" spcFirstLastPara="1" rIns="27150" wrap="square" tIns="2715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" name="Google Shape;269;p7"/>
            <p:cNvSpPr txBox="1"/>
            <p:nvPr/>
          </p:nvSpPr>
          <p:spPr>
            <a:xfrm>
              <a:off x="1425322" y="112495"/>
              <a:ext cx="6082597" cy="662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7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98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3</a:t>
              </a:r>
              <a:endParaRPr/>
            </a:p>
          </p:txBody>
        </p:sp>
        <p:sp>
          <p:nvSpPr>
            <p:cNvPr id="270" name="Google Shape;270;p7"/>
            <p:cNvSpPr txBox="1"/>
            <p:nvPr/>
          </p:nvSpPr>
          <p:spPr>
            <a:xfrm>
              <a:off x="1425322" y="944671"/>
              <a:ext cx="6082597" cy="28952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5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2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Attract, support, and retain qualified students capable of fulfilling the mission of the institution, who will foster and advocate diversity; promote integrity and competence in Christian leadership; and encourage justice, reconciliation, liberation, and peace.</a:t>
              </a:r>
              <a:endParaRPr/>
            </a:p>
            <a:p>
              <a:pPr indent="0" lvl="0" marL="0" marR="0" rtl="0" algn="l">
                <a:lnSpc>
                  <a:spcPct val="13997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2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71" name="Google Shape;271;p7"/>
            <p:cNvSpPr txBox="1"/>
            <p:nvPr/>
          </p:nvSpPr>
          <p:spPr>
            <a:xfrm>
              <a:off x="360639" y="218233"/>
              <a:ext cx="715178" cy="5287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61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72" name="Google Shape;272;p7"/>
          <p:cNvGrpSpPr/>
          <p:nvPr/>
        </p:nvGrpSpPr>
        <p:grpSpPr>
          <a:xfrm>
            <a:off x="6481730" y="5182879"/>
            <a:ext cx="5911487" cy="2246621"/>
            <a:chOff x="0" y="-31123"/>
            <a:chExt cx="7881983" cy="2995495"/>
          </a:xfrm>
        </p:grpSpPr>
        <p:grpSp>
          <p:nvGrpSpPr>
            <p:cNvPr id="273" name="Google Shape;273;p7"/>
            <p:cNvGrpSpPr/>
            <p:nvPr/>
          </p:nvGrpSpPr>
          <p:grpSpPr>
            <a:xfrm>
              <a:off x="0" y="-31123"/>
              <a:ext cx="984577" cy="695085"/>
              <a:chOff x="0" y="-28575"/>
              <a:chExt cx="903964" cy="638175"/>
            </a:xfrm>
          </p:grpSpPr>
          <p:sp>
            <p:nvSpPr>
              <p:cNvPr id="274" name="Google Shape;27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75" name="Google Shape;27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400" lIns="36400" spcFirstLastPara="1" rIns="36400" wrap="square" tIns="36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76" name="Google Shape;276;p7"/>
            <p:cNvGrpSpPr/>
            <p:nvPr/>
          </p:nvGrpSpPr>
          <p:grpSpPr>
            <a:xfrm>
              <a:off x="158572" y="79537"/>
              <a:ext cx="1112241" cy="695085"/>
              <a:chOff x="0" y="-28575"/>
              <a:chExt cx="1021176" cy="638175"/>
            </a:xfrm>
          </p:grpSpPr>
          <p:sp>
            <p:nvSpPr>
              <p:cNvPr id="277" name="Google Shape;27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78" name="Google Shape;27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6400" lIns="36400" spcFirstLastPara="1" rIns="36400" wrap="square" tIns="364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" name="Google Shape;279;p7"/>
            <p:cNvSpPr txBox="1"/>
            <p:nvPr/>
          </p:nvSpPr>
          <p:spPr>
            <a:xfrm>
              <a:off x="1402082" y="90124"/>
              <a:ext cx="6110831" cy="642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2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4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5</a:t>
              </a:r>
              <a:endParaRPr/>
            </a:p>
          </p:txBody>
        </p:sp>
        <p:sp>
          <p:nvSpPr>
            <p:cNvPr id="280" name="Google Shape;280;p7"/>
            <p:cNvSpPr txBox="1"/>
            <p:nvPr/>
          </p:nvSpPr>
          <p:spPr>
            <a:xfrm>
              <a:off x="1402082" y="893738"/>
              <a:ext cx="6479901" cy="207063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Encourage scholarly research and publications related to African and the Diaspora African religious experience, the African American Church, and the church universal.</a:t>
              </a:r>
              <a:endParaRPr/>
            </a:p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281" name="Google Shape;281;p7"/>
            <p:cNvSpPr txBox="1"/>
            <p:nvPr/>
          </p:nvSpPr>
          <p:spPr>
            <a:xfrm>
              <a:off x="354759" y="206236"/>
              <a:ext cx="703517" cy="528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13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  <p:grpSp>
        <p:nvGrpSpPr>
          <p:cNvPr id="282" name="Google Shape;282;p7"/>
          <p:cNvGrpSpPr/>
          <p:nvPr/>
        </p:nvGrpSpPr>
        <p:grpSpPr>
          <a:xfrm>
            <a:off x="12469864" y="2842533"/>
            <a:ext cx="5634684" cy="1633707"/>
            <a:chOff x="0" y="-31221"/>
            <a:chExt cx="7512912" cy="2178276"/>
          </a:xfrm>
        </p:grpSpPr>
        <p:grpSp>
          <p:nvGrpSpPr>
            <p:cNvPr id="283" name="Google Shape;28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284" name="Google Shape;28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85" name="Google Shape;28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175" lIns="33175" spcFirstLastPara="1" rIns="33175" wrap="square" tIns="33175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86" name="Google Shape;28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287" name="Google Shape;28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88" name="Google Shape;28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33175" lIns="33175" spcFirstLastPara="1" rIns="33175" wrap="square" tIns="33175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9" name="Google Shape;28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7</a:t>
              </a:r>
              <a:endParaRPr/>
            </a:p>
          </p:txBody>
        </p:sp>
        <p:sp>
          <p:nvSpPr>
            <p:cNvPr id="290" name="Google Shape;290;p7"/>
            <p:cNvSpPr txBox="1"/>
            <p:nvPr/>
          </p:nvSpPr>
          <p:spPr>
            <a:xfrm>
              <a:off x="1406465" y="931400"/>
              <a:ext cx="6106447" cy="1215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Ensure that the learning, working, and living environment is healthy, safe, and secure through strong administrative practices.</a:t>
              </a:r>
              <a:endParaRPr/>
            </a:p>
          </p:txBody>
        </p:sp>
        <p:sp>
          <p:nvSpPr>
            <p:cNvPr id="291" name="Google Shape;29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7</a:t>
              </a:r>
              <a:endParaRPr/>
            </a:p>
          </p:txBody>
        </p:sp>
      </p:grpSp>
      <p:grpSp>
        <p:nvGrpSpPr>
          <p:cNvPr id="292" name="Google Shape;292;p7"/>
          <p:cNvGrpSpPr/>
          <p:nvPr/>
        </p:nvGrpSpPr>
        <p:grpSpPr>
          <a:xfrm>
            <a:off x="263912" y="4929587"/>
            <a:ext cx="6430865" cy="1873519"/>
            <a:chOff x="0" y="-35632"/>
            <a:chExt cx="8574487" cy="2498025"/>
          </a:xfrm>
        </p:grpSpPr>
        <p:grpSp>
          <p:nvGrpSpPr>
            <p:cNvPr id="293" name="Google Shape;293;p7"/>
            <p:cNvGrpSpPr/>
            <p:nvPr/>
          </p:nvGrpSpPr>
          <p:grpSpPr>
            <a:xfrm>
              <a:off x="0" y="-35632"/>
              <a:ext cx="1127212" cy="795782"/>
              <a:chOff x="0" y="-28575"/>
              <a:chExt cx="903964" cy="638175"/>
            </a:xfrm>
          </p:grpSpPr>
          <p:sp>
            <p:nvSpPr>
              <p:cNvPr id="294" name="Google Shape;29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295" name="Google Shape;29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6" name="Google Shape;296;p7"/>
            <p:cNvGrpSpPr/>
            <p:nvPr/>
          </p:nvGrpSpPr>
          <p:grpSpPr>
            <a:xfrm>
              <a:off x="181544" y="91060"/>
              <a:ext cx="1273370" cy="795782"/>
              <a:chOff x="0" y="-28575"/>
              <a:chExt cx="1021176" cy="638175"/>
            </a:xfrm>
          </p:grpSpPr>
          <p:sp>
            <p:nvSpPr>
              <p:cNvPr id="297" name="Google Shape;29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298" name="Google Shape;29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99" name="Google Shape;299;p7"/>
            <p:cNvSpPr txBox="1"/>
            <p:nvPr/>
          </p:nvSpPr>
          <p:spPr>
            <a:xfrm>
              <a:off x="1605199" y="117167"/>
              <a:ext cx="6850225" cy="7559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71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2</a:t>
              </a:r>
              <a:endParaRPr/>
            </a:p>
          </p:txBody>
        </p:sp>
        <p:sp>
          <p:nvSpPr>
            <p:cNvPr id="300" name="Google Shape;300;p7"/>
            <p:cNvSpPr txBox="1"/>
            <p:nvPr/>
          </p:nvSpPr>
          <p:spPr>
            <a:xfrm>
              <a:off x="1605199" y="1068390"/>
              <a:ext cx="6969288" cy="139400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51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Demonstrate academic excellence in teaching and research.</a:t>
              </a:r>
              <a:endParaRPr/>
            </a:p>
            <a:p>
              <a:pPr indent="0" lvl="0" marL="0" marR="0" rtl="0" algn="l">
                <a:lnSpc>
                  <a:spcPct val="13998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5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01" name="Google Shape;301;p7"/>
            <p:cNvSpPr txBox="1"/>
            <p:nvPr/>
          </p:nvSpPr>
          <p:spPr>
            <a:xfrm>
              <a:off x="406152" y="237359"/>
              <a:ext cx="805434" cy="6039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4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33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302" name="Google Shape;302;p7"/>
          <p:cNvGrpSpPr/>
          <p:nvPr/>
        </p:nvGrpSpPr>
        <p:grpSpPr>
          <a:xfrm>
            <a:off x="6326658" y="2842533"/>
            <a:ext cx="5634684" cy="2266014"/>
            <a:chOff x="0" y="-31221"/>
            <a:chExt cx="7512912" cy="3021352"/>
          </a:xfrm>
        </p:grpSpPr>
        <p:grpSp>
          <p:nvGrpSpPr>
            <p:cNvPr id="303" name="Google Shape;30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04" name="Google Shape;30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05" name="Google Shape;30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06" name="Google Shape;30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07" name="Google Shape;30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08" name="Google Shape;30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9" name="Google Shape;30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4</a:t>
              </a:r>
              <a:endParaRPr/>
            </a:p>
          </p:txBody>
        </p:sp>
        <p:sp>
          <p:nvSpPr>
            <p:cNvPr id="310" name="Google Shape;310;p7"/>
            <p:cNvSpPr txBox="1"/>
            <p:nvPr/>
          </p:nvSpPr>
          <p:spPr>
            <a:xfrm>
              <a:off x="1406465" y="931400"/>
              <a:ext cx="6106447" cy="2058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Provide a critique, informed by the perspectives of African American and other global interpretations of Western, male-dominated theological education.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11" name="Google Shape;31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312" name="Google Shape;312;p7"/>
          <p:cNvGrpSpPr/>
          <p:nvPr/>
        </p:nvGrpSpPr>
        <p:grpSpPr>
          <a:xfrm>
            <a:off x="6265185" y="7320798"/>
            <a:ext cx="6052279" cy="1763224"/>
            <a:chOff x="0" y="-33534"/>
            <a:chExt cx="8069705" cy="2350965"/>
          </a:xfrm>
        </p:grpSpPr>
        <p:grpSp>
          <p:nvGrpSpPr>
            <p:cNvPr id="313" name="Google Shape;313;p7"/>
            <p:cNvGrpSpPr/>
            <p:nvPr/>
          </p:nvGrpSpPr>
          <p:grpSpPr>
            <a:xfrm>
              <a:off x="0" y="-33534"/>
              <a:ext cx="1060852" cy="748933"/>
              <a:chOff x="0" y="-28575"/>
              <a:chExt cx="903964" cy="638175"/>
            </a:xfrm>
          </p:grpSpPr>
          <p:sp>
            <p:nvSpPr>
              <p:cNvPr id="314" name="Google Shape;31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15" name="Google Shape;31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16" name="Google Shape;316;p7"/>
            <p:cNvGrpSpPr/>
            <p:nvPr/>
          </p:nvGrpSpPr>
          <p:grpSpPr>
            <a:xfrm>
              <a:off x="170857" y="85699"/>
              <a:ext cx="1198406" cy="748933"/>
              <a:chOff x="0" y="-28575"/>
              <a:chExt cx="1021176" cy="638175"/>
            </a:xfrm>
          </p:grpSpPr>
          <p:sp>
            <p:nvSpPr>
              <p:cNvPr id="317" name="Google Shape;31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18" name="Google Shape;31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19" name="Google Shape;319;p7"/>
            <p:cNvSpPr txBox="1"/>
            <p:nvPr/>
          </p:nvSpPr>
          <p:spPr>
            <a:xfrm>
              <a:off x="1510701" y="119233"/>
              <a:ext cx="6446952" cy="7024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14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495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6</a:t>
              </a:r>
              <a:endParaRPr/>
            </a:p>
          </p:txBody>
        </p:sp>
        <p:sp>
          <p:nvSpPr>
            <p:cNvPr id="320" name="Google Shape;320;p7"/>
            <p:cNvSpPr txBox="1"/>
            <p:nvPr/>
          </p:nvSpPr>
          <p:spPr>
            <a:xfrm>
              <a:off x="1510701" y="1003251"/>
              <a:ext cx="6559004" cy="13141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7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930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Attract, develop, and retain competent faculty, staff, and administrators.</a:t>
              </a:r>
              <a:endParaRPr/>
            </a:p>
            <a:p>
              <a:pPr indent="0" lvl="0" marL="0" marR="0" rtl="0" algn="l">
                <a:lnSpc>
                  <a:spcPct val="1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93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21" name="Google Shape;321;p7"/>
            <p:cNvSpPr txBox="1"/>
            <p:nvPr/>
          </p:nvSpPr>
          <p:spPr>
            <a:xfrm>
              <a:off x="382242" y="208261"/>
              <a:ext cx="758018" cy="5834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8999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139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6</a:t>
              </a:r>
              <a:endParaRPr/>
            </a:p>
          </p:txBody>
        </p:sp>
      </p:grpSp>
      <p:grpSp>
        <p:nvGrpSpPr>
          <p:cNvPr id="322" name="Google Shape;322;p7"/>
          <p:cNvGrpSpPr/>
          <p:nvPr/>
        </p:nvGrpSpPr>
        <p:grpSpPr>
          <a:xfrm>
            <a:off x="12469864" y="4932896"/>
            <a:ext cx="5634684" cy="2266014"/>
            <a:chOff x="0" y="-31221"/>
            <a:chExt cx="7512912" cy="3021352"/>
          </a:xfrm>
        </p:grpSpPr>
        <p:grpSp>
          <p:nvGrpSpPr>
            <p:cNvPr id="323" name="Google Shape;32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24" name="Google Shape;32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25" name="Google Shape;32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6" name="Google Shape;32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27" name="Google Shape;32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28" name="Google Shape;32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9" name="Google Shape;32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8</a:t>
              </a:r>
              <a:endParaRPr/>
            </a:p>
          </p:txBody>
        </p:sp>
        <p:sp>
          <p:nvSpPr>
            <p:cNvPr id="330" name="Google Shape;330;p7"/>
            <p:cNvSpPr txBox="1"/>
            <p:nvPr/>
          </p:nvSpPr>
          <p:spPr>
            <a:xfrm>
              <a:off x="1406465" y="931400"/>
              <a:ext cx="6106447" cy="20587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Develop and sustain partnerships that enhance the education of students, provide opportunities for community service, and foster interreligious dialogue.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31" name="Google Shape;33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8</a:t>
              </a:r>
              <a:endParaRPr/>
            </a:p>
          </p:txBody>
        </p:sp>
      </p:grpSp>
      <p:grpSp>
        <p:nvGrpSpPr>
          <p:cNvPr id="332" name="Google Shape;332;p7"/>
          <p:cNvGrpSpPr/>
          <p:nvPr/>
        </p:nvGrpSpPr>
        <p:grpSpPr>
          <a:xfrm>
            <a:off x="12469864" y="7322534"/>
            <a:ext cx="5634684" cy="1953789"/>
            <a:chOff x="0" y="-31221"/>
            <a:chExt cx="7512912" cy="2605053"/>
          </a:xfrm>
        </p:grpSpPr>
        <p:grpSp>
          <p:nvGrpSpPr>
            <p:cNvPr id="333" name="Google Shape;333;p7"/>
            <p:cNvGrpSpPr/>
            <p:nvPr/>
          </p:nvGrpSpPr>
          <p:grpSpPr>
            <a:xfrm>
              <a:off x="0" y="-31221"/>
              <a:ext cx="987656" cy="697259"/>
              <a:chOff x="0" y="-28575"/>
              <a:chExt cx="903964" cy="638175"/>
            </a:xfrm>
          </p:grpSpPr>
          <p:sp>
            <p:nvSpPr>
              <p:cNvPr id="334" name="Google Shape;334;p7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</p:sp>
          <p:sp>
            <p:nvSpPr>
              <p:cNvPr id="335" name="Google Shape;335;p7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36" name="Google Shape;336;p7"/>
            <p:cNvGrpSpPr/>
            <p:nvPr/>
          </p:nvGrpSpPr>
          <p:grpSpPr>
            <a:xfrm>
              <a:off x="159068" y="79785"/>
              <a:ext cx="1115719" cy="697259"/>
              <a:chOff x="0" y="-28575"/>
              <a:chExt cx="1021176" cy="638175"/>
            </a:xfrm>
          </p:grpSpPr>
          <p:sp>
            <p:nvSpPr>
              <p:cNvPr id="337" name="Google Shape;337;p7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</p:sp>
          <p:sp>
            <p:nvSpPr>
              <p:cNvPr id="338" name="Google Shape;338;p7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9" name="Google Shape;339;p7"/>
            <p:cNvSpPr txBox="1"/>
            <p:nvPr/>
          </p:nvSpPr>
          <p:spPr>
            <a:xfrm>
              <a:off x="1406465" y="120531"/>
              <a:ext cx="6002125" cy="64447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0998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3254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GOAL 9</a:t>
              </a:r>
              <a:endParaRPr/>
            </a:p>
          </p:txBody>
        </p:sp>
        <p:sp>
          <p:nvSpPr>
            <p:cNvPr id="340" name="Google Shape;340;p7"/>
            <p:cNvSpPr txBox="1"/>
            <p:nvPr/>
          </p:nvSpPr>
          <p:spPr>
            <a:xfrm>
              <a:off x="1406465" y="931400"/>
              <a:ext cx="6106447" cy="16424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3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797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Maintain fiscal stability and to strengthen the financial vitality of Turner Theological Seminary.</a:t>
              </a:r>
              <a:endParaRPr/>
            </a:p>
            <a:p>
              <a:pPr indent="0" lvl="0" marL="0" marR="0" rtl="0" algn="l">
                <a:lnSpc>
                  <a:spcPct val="139955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797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41" name="Google Shape;341;p7"/>
            <p:cNvSpPr txBox="1"/>
            <p:nvPr/>
          </p:nvSpPr>
          <p:spPr>
            <a:xfrm>
              <a:off x="355868" y="206702"/>
              <a:ext cx="705716" cy="5304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2922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9</a:t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6"/>
          <p:cNvGrpSpPr/>
          <p:nvPr/>
        </p:nvGrpSpPr>
        <p:grpSpPr>
          <a:xfrm>
            <a:off x="2863309" y="319155"/>
            <a:ext cx="1030459" cy="727477"/>
            <a:chOff x="0" y="-28575"/>
            <a:chExt cx="903964" cy="638175"/>
          </a:xfrm>
        </p:grpSpPr>
        <p:sp>
          <p:nvSpPr>
            <p:cNvPr id="177" name="Google Shape;177;p6"/>
            <p:cNvSpPr/>
            <p:nvPr/>
          </p:nvSpPr>
          <p:spPr>
            <a:xfrm>
              <a:off x="0" y="0"/>
              <a:ext cx="903964" cy="609600"/>
            </a:xfrm>
            <a:custGeom>
              <a:rect b="b" l="l" r="r" t="t"/>
              <a:pathLst>
                <a:path extrusionOk="0" h="609600" w="903964">
                  <a:moveTo>
                    <a:pt x="203200" y="0"/>
                  </a:moveTo>
                  <a:lnTo>
                    <a:pt x="903964" y="0"/>
                  </a:lnTo>
                  <a:lnTo>
                    <a:pt x="700764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E4AA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78" name="Google Shape;178;p6"/>
            <p:cNvSpPr txBox="1"/>
            <p:nvPr/>
          </p:nvSpPr>
          <p:spPr>
            <a:xfrm>
              <a:off x="101600" y="-28575"/>
              <a:ext cx="700764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6"/>
          <p:cNvGrpSpPr/>
          <p:nvPr/>
        </p:nvGrpSpPr>
        <p:grpSpPr>
          <a:xfrm>
            <a:off x="3029270" y="434973"/>
            <a:ext cx="1164072" cy="727477"/>
            <a:chOff x="0" y="-28575"/>
            <a:chExt cx="1021176" cy="638175"/>
          </a:xfrm>
        </p:grpSpPr>
        <p:sp>
          <p:nvSpPr>
            <p:cNvPr id="180" name="Google Shape;180;p6"/>
            <p:cNvSpPr/>
            <p:nvPr/>
          </p:nvSpPr>
          <p:spPr>
            <a:xfrm>
              <a:off x="0" y="0"/>
              <a:ext cx="1021176" cy="609600"/>
            </a:xfrm>
            <a:custGeom>
              <a:rect b="b" l="l" r="r" t="t"/>
              <a:pathLst>
                <a:path extrusionOk="0" h="609600" w="1021176">
                  <a:moveTo>
                    <a:pt x="203200" y="0"/>
                  </a:moveTo>
                  <a:lnTo>
                    <a:pt x="1021176" y="0"/>
                  </a:lnTo>
                  <a:lnTo>
                    <a:pt x="817976" y="609600"/>
                  </a:lnTo>
                  <a:lnTo>
                    <a:pt x="0" y="609600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1" name="Google Shape;181;p6"/>
            <p:cNvSpPr txBox="1"/>
            <p:nvPr/>
          </p:nvSpPr>
          <p:spPr>
            <a:xfrm>
              <a:off x="101600" y="-28575"/>
              <a:ext cx="817976" cy="6381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18499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2" name="Google Shape;182;p6"/>
          <p:cNvGrpSpPr/>
          <p:nvPr/>
        </p:nvGrpSpPr>
        <p:grpSpPr>
          <a:xfrm>
            <a:off x="-122946" y="-120991"/>
            <a:ext cx="18410946" cy="2466209"/>
            <a:chOff x="0" y="-38100"/>
            <a:chExt cx="4848973" cy="649537"/>
          </a:xfrm>
        </p:grpSpPr>
        <p:sp>
          <p:nvSpPr>
            <p:cNvPr id="183" name="Google Shape;183;p6"/>
            <p:cNvSpPr/>
            <p:nvPr/>
          </p:nvSpPr>
          <p:spPr>
            <a:xfrm>
              <a:off x="0" y="0"/>
              <a:ext cx="4848973" cy="611437"/>
            </a:xfrm>
            <a:custGeom>
              <a:rect b="b" l="l" r="r" t="t"/>
              <a:pathLst>
                <a:path extrusionOk="0" h="611437" w="4848973">
                  <a:moveTo>
                    <a:pt x="0" y="0"/>
                  </a:moveTo>
                  <a:lnTo>
                    <a:pt x="4848973" y="0"/>
                  </a:lnTo>
                  <a:lnTo>
                    <a:pt x="4848973" y="611437"/>
                  </a:lnTo>
                  <a:lnTo>
                    <a:pt x="0" y="611437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184" name="Google Shape;184;p6"/>
            <p:cNvSpPr txBox="1"/>
            <p:nvPr/>
          </p:nvSpPr>
          <p:spPr>
            <a:xfrm>
              <a:off x="0" y="-38100"/>
              <a:ext cx="4848973" cy="6495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6"/>
          <p:cNvSpPr/>
          <p:nvPr/>
        </p:nvSpPr>
        <p:spPr>
          <a:xfrm>
            <a:off x="837410" y="497777"/>
            <a:ext cx="1397498" cy="1373333"/>
          </a:xfrm>
          <a:custGeom>
            <a:rect b="b" l="l" r="r" t="t"/>
            <a:pathLst>
              <a:path extrusionOk="0" h="1373333" w="1397498">
                <a:moveTo>
                  <a:pt x="0" y="0"/>
                </a:moveTo>
                <a:lnTo>
                  <a:pt x="1397498" y="0"/>
                </a:lnTo>
                <a:lnTo>
                  <a:pt x="1397498" y="1373333"/>
                </a:lnTo>
                <a:lnTo>
                  <a:pt x="0" y="13733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186" name="Google Shape;186;p6"/>
          <p:cNvSpPr txBox="1"/>
          <p:nvPr/>
        </p:nvSpPr>
        <p:spPr>
          <a:xfrm>
            <a:off x="476643" y="689877"/>
            <a:ext cx="17334713" cy="9967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11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6634">
                <a:solidFill>
                  <a:srgbClr val="FFFFFF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COMMITMENTS TO SACSCOC</a:t>
            </a:r>
            <a:endParaRPr/>
          </a:p>
        </p:txBody>
      </p:sp>
      <p:grpSp>
        <p:nvGrpSpPr>
          <p:cNvPr id="187" name="Google Shape;187;p6"/>
          <p:cNvGrpSpPr/>
          <p:nvPr/>
        </p:nvGrpSpPr>
        <p:grpSpPr>
          <a:xfrm>
            <a:off x="861918" y="2818940"/>
            <a:ext cx="7838505" cy="1818263"/>
            <a:chOff x="0" y="-43431"/>
            <a:chExt cx="10451340" cy="2424349"/>
          </a:xfrm>
        </p:grpSpPr>
        <p:grpSp>
          <p:nvGrpSpPr>
            <p:cNvPr id="188" name="Google Shape;18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89" name="Google Shape;18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0" name="Google Shape;19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91" name="Google Shape;19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192" name="Google Shape;19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193" name="Google Shape;19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" name="Google Shape;194;p6"/>
            <p:cNvSpPr txBox="1"/>
            <p:nvPr/>
          </p:nvSpPr>
          <p:spPr>
            <a:xfrm>
              <a:off x="1956558" y="112474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1</a:t>
              </a:r>
              <a:endParaRPr/>
            </a:p>
          </p:txBody>
        </p:sp>
        <p:sp>
          <p:nvSpPr>
            <p:cNvPr id="195" name="Google Shape;195;p6"/>
            <p:cNvSpPr txBox="1"/>
            <p:nvPr/>
          </p:nvSpPr>
          <p:spPr>
            <a:xfrm>
              <a:off x="1956558" y="1259720"/>
              <a:ext cx="8494782" cy="11211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Reduction in contractor and payroll expenses in FY2026 — IMPLEMENTED</a:t>
              </a:r>
              <a:endParaRPr/>
            </a:p>
          </p:txBody>
        </p:sp>
        <p:sp>
          <p:nvSpPr>
            <p:cNvPr id="196" name="Google Shape;19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1</a:t>
              </a:r>
              <a:endParaRPr/>
            </a:p>
          </p:txBody>
        </p:sp>
      </p:grpSp>
      <p:grpSp>
        <p:nvGrpSpPr>
          <p:cNvPr id="197" name="Google Shape;197;p6"/>
          <p:cNvGrpSpPr/>
          <p:nvPr/>
        </p:nvGrpSpPr>
        <p:grpSpPr>
          <a:xfrm>
            <a:off x="837410" y="5110926"/>
            <a:ext cx="7729662" cy="2708425"/>
            <a:chOff x="0" y="-43431"/>
            <a:chExt cx="10306216" cy="3611232"/>
          </a:xfrm>
        </p:grpSpPr>
        <p:grpSp>
          <p:nvGrpSpPr>
            <p:cNvPr id="198" name="Google Shape;19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199" name="Google Shape;19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0" name="Google Shape;20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01" name="Google Shape;20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02" name="Google Shape;20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03" name="Google Shape;20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04" name="Google Shape;204;p6"/>
            <p:cNvSpPr txBox="1"/>
            <p:nvPr/>
          </p:nvSpPr>
          <p:spPr>
            <a:xfrm>
              <a:off x="1956558" y="154423"/>
              <a:ext cx="83496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2</a:t>
              </a:r>
              <a:endParaRPr/>
            </a:p>
          </p:txBody>
        </p:sp>
        <p:sp>
          <p:nvSpPr>
            <p:cNvPr id="205" name="Google Shape;205;p6"/>
            <p:cNvSpPr txBox="1"/>
            <p:nvPr/>
          </p:nvSpPr>
          <p:spPr>
            <a:xfrm>
              <a:off x="1956558" y="1288362"/>
              <a:ext cx="8349658" cy="22794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Strengthened advancement and enrollment strategies — IN PROGRESS</a:t>
              </a:r>
              <a:endParaRPr/>
            </a:p>
          </p:txBody>
        </p:sp>
        <p:sp>
          <p:nvSpPr>
            <p:cNvPr id="206" name="Google Shape;20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2</a:t>
              </a:r>
              <a:endParaRPr/>
            </a:p>
          </p:txBody>
        </p:sp>
      </p:grpSp>
      <p:grpSp>
        <p:nvGrpSpPr>
          <p:cNvPr id="207" name="Google Shape;207;p6"/>
          <p:cNvGrpSpPr/>
          <p:nvPr/>
        </p:nvGrpSpPr>
        <p:grpSpPr>
          <a:xfrm>
            <a:off x="861918" y="7786777"/>
            <a:ext cx="7863012" cy="2252603"/>
            <a:chOff x="0" y="-43431"/>
            <a:chExt cx="10484016" cy="3003469"/>
          </a:xfrm>
        </p:grpSpPr>
        <p:grpSp>
          <p:nvGrpSpPr>
            <p:cNvPr id="208" name="Google Shape;20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09" name="Google Shape;20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0" name="Google Shape;21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11" name="Google Shape;21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12" name="Google Shape;21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13" name="Google Shape;21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14" name="Google Shape;214;p6"/>
            <p:cNvSpPr txBox="1"/>
            <p:nvPr/>
          </p:nvSpPr>
          <p:spPr>
            <a:xfrm>
              <a:off x="1956558" y="112474"/>
              <a:ext cx="8527458" cy="9148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3</a:t>
              </a:r>
              <a:endParaRPr/>
            </a:p>
          </p:txBody>
        </p:sp>
        <p:sp>
          <p:nvSpPr>
            <p:cNvPr id="215" name="Google Shape;215;p6"/>
            <p:cNvSpPr txBox="1"/>
            <p:nvPr/>
          </p:nvSpPr>
          <p:spPr>
            <a:xfrm>
              <a:off x="1956558" y="1259720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Executive Director of Institutional Advancement — HIRED</a:t>
              </a:r>
              <a:endParaRPr/>
            </a:p>
          </p:txBody>
        </p:sp>
        <p:sp>
          <p:nvSpPr>
            <p:cNvPr id="216" name="Google Shape;216;p6"/>
            <p:cNvSpPr txBox="1"/>
            <p:nvPr/>
          </p:nvSpPr>
          <p:spPr>
            <a:xfrm>
              <a:off x="495054" y="284245"/>
              <a:ext cx="981734" cy="74309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3</a:t>
              </a:r>
              <a:endParaRPr/>
            </a:p>
          </p:txBody>
        </p:sp>
      </p:grpSp>
      <p:grpSp>
        <p:nvGrpSpPr>
          <p:cNvPr id="217" name="Google Shape;217;p6"/>
          <p:cNvGrpSpPr/>
          <p:nvPr/>
        </p:nvGrpSpPr>
        <p:grpSpPr>
          <a:xfrm>
            <a:off x="9420795" y="2818940"/>
            <a:ext cx="7838505" cy="2283609"/>
            <a:chOff x="0" y="-43431"/>
            <a:chExt cx="10451340" cy="3044811"/>
          </a:xfrm>
        </p:grpSpPr>
        <p:grpSp>
          <p:nvGrpSpPr>
            <p:cNvPr id="218" name="Google Shape;21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19" name="Google Shape;21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0" name="Google Shape;22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1" name="Google Shape;22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22" name="Google Shape;22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23" name="Google Shape;22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24" name="Google Shape;224;p6"/>
            <p:cNvSpPr txBox="1"/>
            <p:nvPr/>
          </p:nvSpPr>
          <p:spPr>
            <a:xfrm>
              <a:off x="1956558" y="154423"/>
              <a:ext cx="8349658" cy="9049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 4</a:t>
              </a:r>
              <a:endParaRPr/>
            </a:p>
          </p:txBody>
        </p:sp>
        <p:sp>
          <p:nvSpPr>
            <p:cNvPr id="225" name="Google Shape;225;p6"/>
            <p:cNvSpPr txBox="1"/>
            <p:nvPr/>
          </p:nvSpPr>
          <p:spPr>
            <a:xfrm>
              <a:off x="1956558" y="1301062"/>
              <a:ext cx="8494782" cy="170031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Scholarship award limits before Fall 2026 — IN PROCESS</a:t>
              </a:r>
              <a:endParaRPr/>
            </a:p>
          </p:txBody>
        </p:sp>
        <p:sp>
          <p:nvSpPr>
            <p:cNvPr id="226" name="Google Shape;226;p6"/>
            <p:cNvSpPr txBox="1"/>
            <p:nvPr/>
          </p:nvSpPr>
          <p:spPr>
            <a:xfrm>
              <a:off x="495054" y="284245"/>
              <a:ext cx="981734" cy="74188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4</a:t>
              </a:r>
              <a:endParaRPr/>
            </a:p>
          </p:txBody>
        </p:sp>
      </p:grpSp>
      <p:grpSp>
        <p:nvGrpSpPr>
          <p:cNvPr id="227" name="Google Shape;227;p6"/>
          <p:cNvGrpSpPr/>
          <p:nvPr/>
        </p:nvGrpSpPr>
        <p:grpSpPr>
          <a:xfrm>
            <a:off x="9420795" y="5110926"/>
            <a:ext cx="7838505" cy="1856889"/>
            <a:chOff x="0" y="-43431"/>
            <a:chExt cx="10451340" cy="2475851"/>
          </a:xfrm>
        </p:grpSpPr>
        <p:grpSp>
          <p:nvGrpSpPr>
            <p:cNvPr id="228" name="Google Shape;228;p6"/>
            <p:cNvGrpSpPr/>
            <p:nvPr/>
          </p:nvGrpSpPr>
          <p:grpSpPr>
            <a:xfrm>
              <a:off x="0" y="-43431"/>
              <a:ext cx="1373945" cy="969968"/>
              <a:chOff x="0" y="-28575"/>
              <a:chExt cx="903964" cy="638175"/>
            </a:xfrm>
          </p:grpSpPr>
          <p:sp>
            <p:nvSpPr>
              <p:cNvPr id="229" name="Google Shape;229;p6"/>
              <p:cNvSpPr/>
              <p:nvPr/>
            </p:nvSpPr>
            <p:spPr>
              <a:xfrm>
                <a:off x="0" y="0"/>
                <a:ext cx="903964" cy="609600"/>
              </a:xfrm>
              <a:custGeom>
                <a:rect b="b" l="l" r="r" t="t"/>
                <a:pathLst>
                  <a:path extrusionOk="0" h="609600" w="903964">
                    <a:moveTo>
                      <a:pt x="203200" y="0"/>
                    </a:moveTo>
                    <a:lnTo>
                      <a:pt x="903964" y="0"/>
                    </a:lnTo>
                    <a:lnTo>
                      <a:pt x="700764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E4AAFF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0" name="Google Shape;230;p6"/>
              <p:cNvSpPr txBox="1"/>
              <p:nvPr/>
            </p:nvSpPr>
            <p:spPr>
              <a:xfrm>
                <a:off x="101600" y="-28575"/>
                <a:ext cx="700764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31" name="Google Shape;231;p6"/>
            <p:cNvGrpSpPr/>
            <p:nvPr/>
          </p:nvGrpSpPr>
          <p:grpSpPr>
            <a:xfrm>
              <a:off x="221282" y="110992"/>
              <a:ext cx="1552095" cy="969968"/>
              <a:chOff x="0" y="-28575"/>
              <a:chExt cx="1021176" cy="638175"/>
            </a:xfrm>
          </p:grpSpPr>
          <p:sp>
            <p:nvSpPr>
              <p:cNvPr id="232" name="Google Shape;232;p6"/>
              <p:cNvSpPr/>
              <p:nvPr/>
            </p:nvSpPr>
            <p:spPr>
              <a:xfrm>
                <a:off x="0" y="0"/>
                <a:ext cx="1021176" cy="609600"/>
              </a:xfrm>
              <a:custGeom>
                <a:rect b="b" l="l" r="r" t="t"/>
                <a:pathLst>
                  <a:path extrusionOk="0" h="609600" w="1021176">
                    <a:moveTo>
                      <a:pt x="203200" y="0"/>
                    </a:moveTo>
                    <a:lnTo>
                      <a:pt x="1021176" y="0"/>
                    </a:lnTo>
                    <a:lnTo>
                      <a:pt x="817976" y="609600"/>
                    </a:lnTo>
                    <a:lnTo>
                      <a:pt x="0" y="609600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5A2D91"/>
              </a:solidFill>
              <a:ln>
                <a:noFill/>
              </a:ln>
            </p:spPr>
            <p:txBody>
              <a:bodyPr/>
              <a:p/>
            </p:txBody>
          </p:sp>
          <p:sp>
            <p:nvSpPr>
              <p:cNvPr id="233" name="Google Shape;233;p6"/>
              <p:cNvSpPr txBox="1"/>
              <p:nvPr/>
            </p:nvSpPr>
            <p:spPr>
              <a:xfrm>
                <a:off x="101600" y="-28575"/>
                <a:ext cx="817976" cy="6381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18499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4" name="Google Shape;234;p6"/>
            <p:cNvSpPr txBox="1"/>
            <p:nvPr/>
          </p:nvSpPr>
          <p:spPr>
            <a:xfrm>
              <a:off x="1956558" y="154423"/>
              <a:ext cx="8349658" cy="9097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1000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52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COMMITMENTS 5 &amp; 6</a:t>
              </a:r>
              <a:endParaRPr/>
            </a:p>
          </p:txBody>
        </p:sp>
        <p:sp>
          <p:nvSpPr>
            <p:cNvPr id="235" name="Google Shape;235;p6"/>
            <p:cNvSpPr txBox="1"/>
            <p:nvPr/>
          </p:nvSpPr>
          <p:spPr>
            <a:xfrm>
              <a:off x="1956558" y="1301062"/>
              <a:ext cx="8494782" cy="113135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140016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99">
                  <a:solidFill>
                    <a:srgbClr val="000000"/>
                  </a:solidFill>
                  <a:latin typeface="Inter"/>
                  <a:ea typeface="Inter"/>
                  <a:cs typeface="Inter"/>
                  <a:sym typeface="Inter"/>
                </a:rPr>
                <a:t>Enrollment initiatives active  ·  Active Board oversight documented and confirmed</a:t>
              </a:r>
              <a:endParaRPr/>
            </a:p>
          </p:txBody>
        </p:sp>
        <p:sp>
          <p:nvSpPr>
            <p:cNvPr id="236" name="Google Shape;236;p6"/>
            <p:cNvSpPr txBox="1"/>
            <p:nvPr/>
          </p:nvSpPr>
          <p:spPr>
            <a:xfrm>
              <a:off x="495054" y="284245"/>
              <a:ext cx="981734" cy="7411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lnSpc>
                  <a:spcPct val="9001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4065">
                  <a:solidFill>
                    <a:srgbClr val="FFFFFF"/>
                  </a:solidFill>
                  <a:latin typeface="Poppins SemiBold"/>
                  <a:ea typeface="Poppins SemiBold"/>
                  <a:cs typeface="Poppins SemiBold"/>
                  <a:sym typeface="Poppins SemiBold"/>
                </a:rPr>
                <a:t>5</a:t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8"/>
          <p:cNvSpPr/>
          <p:nvPr/>
        </p:nvSpPr>
        <p:spPr>
          <a:xfrm>
            <a:off x="7494765" y="432012"/>
            <a:ext cx="10698471" cy="9748322"/>
          </a:xfrm>
          <a:custGeom>
            <a:rect b="b" l="l" r="r" t="t"/>
            <a:pathLst>
              <a:path extrusionOk="0" h="9748322" w="10698471">
                <a:moveTo>
                  <a:pt x="0" y="0"/>
                </a:moveTo>
                <a:lnTo>
                  <a:pt x="10698471" y="0"/>
                </a:lnTo>
                <a:lnTo>
                  <a:pt x="10698471" y="9748321"/>
                </a:lnTo>
                <a:lnTo>
                  <a:pt x="0" y="9748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 amt="31000"/>
            </a:blip>
            <a:stretch>
              <a:fillRect b="-13312" l="0" r="-3248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8"/>
          <p:cNvSpPr txBox="1"/>
          <p:nvPr/>
        </p:nvSpPr>
        <p:spPr>
          <a:xfrm>
            <a:off x="2674959" y="1773589"/>
            <a:ext cx="15613041" cy="105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2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7200">
                <a:solidFill>
                  <a:srgbClr val="5A2D91"/>
                </a:solidFill>
                <a:latin typeface="Poppins"/>
                <a:ea typeface="Poppins"/>
                <a:cs typeface="Poppins"/>
                <a:sym typeface="Poppins"/>
              </a:rPr>
              <a:t>LOOKING AHEAD — PRIORITIES</a:t>
            </a:r>
            <a:endParaRPr/>
          </a:p>
        </p:txBody>
      </p:sp>
      <p:grpSp>
        <p:nvGrpSpPr>
          <p:cNvPr id="348" name="Google Shape;348;p8"/>
          <p:cNvGrpSpPr/>
          <p:nvPr/>
        </p:nvGrpSpPr>
        <p:grpSpPr>
          <a:xfrm>
            <a:off x="-31986" y="-144661"/>
            <a:ext cx="18351972" cy="600374"/>
            <a:chOff x="0" y="-38100"/>
            <a:chExt cx="4833441" cy="158123"/>
          </a:xfrm>
        </p:grpSpPr>
        <p:sp>
          <p:nvSpPr>
            <p:cNvPr id="349" name="Google Shape;349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0" name="Google Shape;350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51" name="Google Shape;351;p8"/>
          <p:cNvGrpSpPr/>
          <p:nvPr/>
        </p:nvGrpSpPr>
        <p:grpSpPr>
          <a:xfrm>
            <a:off x="-31986" y="9914482"/>
            <a:ext cx="18351972" cy="600374"/>
            <a:chOff x="0" y="-38100"/>
            <a:chExt cx="4833441" cy="158123"/>
          </a:xfrm>
        </p:grpSpPr>
        <p:sp>
          <p:nvSpPr>
            <p:cNvPr id="352" name="Google Shape;352;p8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353" name="Google Shape;353;p8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4" name="Google Shape;354;p8"/>
          <p:cNvSpPr/>
          <p:nvPr/>
        </p:nvSpPr>
        <p:spPr>
          <a:xfrm>
            <a:off x="623133" y="888731"/>
            <a:ext cx="2083812" cy="2217674"/>
          </a:xfrm>
          <a:custGeom>
            <a:rect b="b" l="l" r="r" t="t"/>
            <a:pathLst>
              <a:path extrusionOk="0" h="2217674" w="2083812">
                <a:moveTo>
                  <a:pt x="0" y="0"/>
                </a:moveTo>
                <a:lnTo>
                  <a:pt x="2083812" y="0"/>
                </a:lnTo>
                <a:lnTo>
                  <a:pt x="2083812" y="2217674"/>
                </a:lnTo>
                <a:lnTo>
                  <a:pt x="0" y="22176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cxnSp>
        <p:nvCxnSpPr>
          <p:cNvPr id="355" name="Google Shape;355;p8"/>
          <p:cNvCxnSpPr/>
          <p:nvPr/>
        </p:nvCxnSpPr>
        <p:spPr>
          <a:xfrm rot="10800000">
            <a:off x="2706945" y="2829647"/>
            <a:ext cx="7848730" cy="0"/>
          </a:xfrm>
          <a:prstGeom prst="straightConnector1">
            <a:avLst/>
          </a:prstGeom>
          <a:noFill/>
          <a:ln cap="flat" cmpd="sng" w="38100">
            <a:solidFill>
              <a:srgbClr val="C9A22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56" name="Google Shape;356;p8"/>
          <p:cNvSpPr txBox="1"/>
          <p:nvPr/>
        </p:nvSpPr>
        <p:spPr>
          <a:xfrm>
            <a:off x="6837963" y="5829300"/>
            <a:ext cx="2534637" cy="52322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8"/>
          <p:cNvSpPr/>
          <p:nvPr/>
        </p:nvSpPr>
        <p:spPr>
          <a:xfrm>
            <a:off x="1524000" y="3164824"/>
            <a:ext cx="14674180" cy="3785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Title IV: Active USDE engagement — upon approval, implement aid infrastructure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Aid Reform: Finalize scholarship limits before Fall 2026 — operational imperative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LOC Management: Paydown schedule to Finance Committee — reduce before June 30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World Cup Revenue: Execute Talbot Hall lease before May 15 — time-limited opportunity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222222"/>
                </a:solidFill>
                <a:latin typeface="Arial"/>
                <a:ea typeface="Arial"/>
                <a:cs typeface="Arial"/>
                <a:sym typeface="Arial"/>
              </a:rPr>
              <a:t>Endowment: 10-11% growth trajectory — targeting $1M by December 2026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" name="Google Shape;409;p12"/>
          <p:cNvPicPr preferRelativeResize="0"/>
          <p:nvPr/>
        </p:nvPicPr>
        <p:blipFill rotWithShape="1">
          <a:blip r:embed="rId4">
            <a:alphaModFix/>
          </a:blip>
          <a:srcRect b="32979" l="0" r="0" t="32979"/>
          <a:stretch/>
        </p:blipFill>
        <p:spPr>
          <a:xfrm>
            <a:off x="0" y="0"/>
            <a:ext cx="18288000" cy="466901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0" name="Google Shape;410;p12"/>
          <p:cNvGrpSpPr/>
          <p:nvPr/>
        </p:nvGrpSpPr>
        <p:grpSpPr>
          <a:xfrm>
            <a:off x="3022128" y="3367065"/>
            <a:ext cx="12243743" cy="1776435"/>
            <a:chOff x="0" y="-38100"/>
            <a:chExt cx="3224690" cy="467868"/>
          </a:xfrm>
        </p:grpSpPr>
        <p:sp>
          <p:nvSpPr>
            <p:cNvPr id="411" name="Google Shape;411;p12"/>
            <p:cNvSpPr/>
            <p:nvPr/>
          </p:nvSpPr>
          <p:spPr>
            <a:xfrm>
              <a:off x="0" y="0"/>
              <a:ext cx="3224690" cy="429768"/>
            </a:xfrm>
            <a:custGeom>
              <a:rect b="b" l="l" r="r" t="t"/>
              <a:pathLst>
                <a:path extrusionOk="0" h="429768" w="3224690">
                  <a:moveTo>
                    <a:pt x="203200" y="0"/>
                  </a:moveTo>
                  <a:lnTo>
                    <a:pt x="3021490" y="0"/>
                  </a:lnTo>
                  <a:lnTo>
                    <a:pt x="3224690" y="429768"/>
                  </a:lnTo>
                  <a:lnTo>
                    <a:pt x="0" y="429768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2" name="Google Shape;412;p12"/>
            <p:cNvSpPr txBox="1"/>
            <p:nvPr/>
          </p:nvSpPr>
          <p:spPr>
            <a:xfrm>
              <a:off x="127000" y="-38100"/>
              <a:ext cx="2970690" cy="4678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3" name="Google Shape;413;p12"/>
          <p:cNvGrpSpPr/>
          <p:nvPr/>
        </p:nvGrpSpPr>
        <p:grpSpPr>
          <a:xfrm>
            <a:off x="-31986" y="9686626"/>
            <a:ext cx="18351972" cy="600374"/>
            <a:chOff x="0" y="-38100"/>
            <a:chExt cx="4833441" cy="158123"/>
          </a:xfrm>
        </p:grpSpPr>
        <p:sp>
          <p:nvSpPr>
            <p:cNvPr id="414" name="Google Shape;414;p12"/>
            <p:cNvSpPr/>
            <p:nvPr/>
          </p:nvSpPr>
          <p:spPr>
            <a:xfrm>
              <a:off x="0" y="0"/>
              <a:ext cx="4833441" cy="120023"/>
            </a:xfrm>
            <a:custGeom>
              <a:rect b="b" l="l" r="r" t="t"/>
              <a:pathLst>
                <a:path extrusionOk="0" h="120023" w="4833441">
                  <a:moveTo>
                    <a:pt x="0" y="0"/>
                  </a:moveTo>
                  <a:lnTo>
                    <a:pt x="4833441" y="0"/>
                  </a:lnTo>
                  <a:lnTo>
                    <a:pt x="4833441" y="120023"/>
                  </a:lnTo>
                  <a:lnTo>
                    <a:pt x="0" y="120023"/>
                  </a:lnTo>
                  <a:close/>
                </a:path>
              </a:pathLst>
            </a:custGeom>
            <a:solidFill>
              <a:srgbClr val="5A2D91"/>
            </a:solidFill>
            <a:ln>
              <a:noFill/>
            </a:ln>
          </p:spPr>
          <p:txBody>
            <a:bodyPr/>
            <a:p/>
          </p:txBody>
        </p:sp>
        <p:sp>
          <p:nvSpPr>
            <p:cNvPr id="415" name="Google Shape;415;p12"/>
            <p:cNvSpPr txBox="1"/>
            <p:nvPr/>
          </p:nvSpPr>
          <p:spPr>
            <a:xfrm>
              <a:off x="0" y="-38100"/>
              <a:ext cx="4833441" cy="1581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16" name="Google Shape;416;p12"/>
          <p:cNvSpPr/>
          <p:nvPr/>
        </p:nvSpPr>
        <p:spPr>
          <a:xfrm>
            <a:off x="10416931" y="641445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7" name="Google Shape;417;p12"/>
          <p:cNvSpPr/>
          <p:nvPr/>
        </p:nvSpPr>
        <p:spPr>
          <a:xfrm>
            <a:off x="10416931" y="713841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8" name="Google Shape;418;p12"/>
          <p:cNvSpPr/>
          <p:nvPr/>
        </p:nvSpPr>
        <p:spPr>
          <a:xfrm>
            <a:off x="10416931" y="7860080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19" name="Google Shape;419;p12"/>
          <p:cNvSpPr/>
          <p:nvPr/>
        </p:nvSpPr>
        <p:spPr>
          <a:xfrm>
            <a:off x="10416931" y="8584047"/>
            <a:ext cx="453340" cy="453340"/>
          </a:xfrm>
          <a:custGeom>
            <a:rect b="b" l="l" r="r" t="t"/>
            <a:pathLst>
              <a:path extrusionOk="0" h="453340" w="453340">
                <a:moveTo>
                  <a:pt x="0" y="0"/>
                </a:moveTo>
                <a:lnTo>
                  <a:pt x="453340" y="0"/>
                </a:lnTo>
                <a:lnTo>
                  <a:pt x="453340" y="453340"/>
                </a:lnTo>
                <a:lnTo>
                  <a:pt x="0" y="4533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0" name="Google Shape;420;p12"/>
          <p:cNvSpPr txBox="1"/>
          <p:nvPr/>
        </p:nvSpPr>
        <p:spPr>
          <a:xfrm>
            <a:off x="1501954" y="4119258"/>
            <a:ext cx="152841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2497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300">
                <a:solidFill>
                  <a:srgbClr val="5A2D9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Thoughts &amp; Clarifying Questions</a:t>
            </a:r>
            <a:endParaRPr sz="100"/>
          </a:p>
        </p:txBody>
      </p:sp>
      <p:sp>
        <p:nvSpPr>
          <p:cNvPr id="421" name="Google Shape;421;p12"/>
          <p:cNvSpPr/>
          <p:nvPr/>
        </p:nvSpPr>
        <p:spPr>
          <a:xfrm>
            <a:off x="7010400" y="666240"/>
            <a:ext cx="3135134" cy="3336532"/>
          </a:xfrm>
          <a:custGeom>
            <a:rect b="b" l="l" r="r" t="t"/>
            <a:pathLst>
              <a:path extrusionOk="0" h="3336532" w="3135134">
                <a:moveTo>
                  <a:pt x="0" y="0"/>
                </a:moveTo>
                <a:lnTo>
                  <a:pt x="3135134" y="0"/>
                </a:lnTo>
                <a:lnTo>
                  <a:pt x="3135134" y="3336532"/>
                </a:lnTo>
                <a:lnTo>
                  <a:pt x="0" y="33365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sp>
        <p:nvSpPr>
          <p:cNvPr id="422" name="Google Shape;422;p12"/>
          <p:cNvSpPr/>
          <p:nvPr/>
        </p:nvSpPr>
        <p:spPr>
          <a:xfrm>
            <a:off x="3417020" y="6414450"/>
            <a:ext cx="6408675" cy="2843850"/>
          </a:xfrm>
          <a:custGeom>
            <a:rect b="b" l="l" r="r" t="t"/>
            <a:pathLst>
              <a:path extrusionOk="0" h="2843850" w="6408675">
                <a:moveTo>
                  <a:pt x="0" y="0"/>
                </a:moveTo>
                <a:lnTo>
                  <a:pt x="6408676" y="0"/>
                </a:lnTo>
                <a:lnTo>
                  <a:pt x="6408676" y="2843850"/>
                </a:lnTo>
                <a:lnTo>
                  <a:pt x="0" y="28438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/>
          <a:p/>
        </p:txBody>
      </p:sp>
      <p:pic>
        <p:nvPicPr>
          <p:cNvPr id="423" name="Google Shape;423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86421" y="6744952"/>
            <a:ext cx="2211205" cy="2211205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12"/>
          <p:cNvSpPr txBox="1"/>
          <p:nvPr/>
        </p:nvSpPr>
        <p:spPr>
          <a:xfrm>
            <a:off x="11001455" y="6448088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(404) 527-0080</a:t>
            </a:r>
            <a:endParaRPr/>
          </a:p>
        </p:txBody>
      </p:sp>
      <p:sp>
        <p:nvSpPr>
          <p:cNvPr id="425" name="Google Shape;425;p12"/>
          <p:cNvSpPr txBox="1"/>
          <p:nvPr/>
        </p:nvSpPr>
        <p:spPr>
          <a:xfrm>
            <a:off x="11001455" y="7172055"/>
            <a:ext cx="2590145" cy="3289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 turnerseminary.org </a:t>
            </a:r>
            <a:endParaRPr/>
          </a:p>
        </p:txBody>
      </p:sp>
      <p:sp>
        <p:nvSpPr>
          <p:cNvPr id="426" name="Google Shape;426;p12"/>
          <p:cNvSpPr txBox="1"/>
          <p:nvPr/>
        </p:nvSpPr>
        <p:spPr>
          <a:xfrm>
            <a:off x="11001455" y="7893717"/>
            <a:ext cx="4771945" cy="3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FF0000"/>
                </a:solidFill>
                <a:latin typeface="Poppins"/>
                <a:ea typeface="Poppins"/>
                <a:cs typeface="Poppins"/>
                <a:sym typeface="Poppins"/>
              </a:rPr>
              <a:t>aneal@turnerseminary.org</a:t>
            </a:r>
            <a:endParaRPr sz="1800">
              <a:solidFill>
                <a:srgbClr val="FF0000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27" name="Google Shape;427;p12"/>
          <p:cNvSpPr txBox="1"/>
          <p:nvPr/>
        </p:nvSpPr>
        <p:spPr>
          <a:xfrm>
            <a:off x="11001455" y="8617684"/>
            <a:ext cx="3698918" cy="6465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702 Martin Luther King Jr. Dr. SW, </a:t>
            </a:r>
            <a:endParaRPr/>
          </a:p>
          <a:p>
            <a:pPr indent="0" lvl="0" marL="0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Atlanta, GA 30314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