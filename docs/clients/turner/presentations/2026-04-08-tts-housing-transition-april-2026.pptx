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jp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8518" l="124" r="3545" t="24623"/>
          <a:stretch/>
        </p:blipFill>
        <p:spPr>
          <a:xfrm>
            <a:off x="537299" y="14992"/>
            <a:ext cx="17723025" cy="4849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-144661"/>
            <a:ext cx="537299" cy="10431661"/>
            <a:chOff x="0" y="-38100"/>
            <a:chExt cx="141511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41511" cy="2709333"/>
            </a:xfrm>
            <a:custGeom>
              <a:rect b="b" l="l" r="r" t="t"/>
              <a:pathLst>
                <a:path extrusionOk="0" h="2709333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14151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11948842" y="8399151"/>
            <a:ext cx="1163662" cy="1238414"/>
          </a:xfrm>
          <a:custGeom>
            <a:rect b="b" l="l" r="r" t="t"/>
            <a:pathLst>
              <a:path extrusionOk="0" h="1238414" w="1163662">
                <a:moveTo>
                  <a:pt x="0" y="0"/>
                </a:moveTo>
                <a:lnTo>
                  <a:pt x="1163662" y="0"/>
                </a:lnTo>
                <a:lnTo>
                  <a:pt x="1163662" y="1238415"/>
                </a:lnTo>
                <a:lnTo>
                  <a:pt x="0" y="1238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13223529" y="8638707"/>
            <a:ext cx="54441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Office of Business &amp; Finance</a:t>
            </a:r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11119900" y="8067549"/>
            <a:ext cx="537655" cy="2201797"/>
            <a:chOff x="0" y="0"/>
            <a:chExt cx="141600" cy="113805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41511" cy="1138056"/>
            </a:xfrm>
            <a:custGeom>
              <a:rect b="b" l="l" r="r" t="t"/>
              <a:pathLst>
                <a:path extrusionOk="0" h="1138056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1138056"/>
                  </a:lnTo>
                  <a:lnTo>
                    <a:pt x="0" y="1138056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369716"/>
              <a:ext cx="141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9139238" y="4979532"/>
            <a:ext cx="9525" cy="28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3192835" y="9120357"/>
            <a:ext cx="4234558" cy="652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FOR A PREPARED MINISTRY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39" u="none" cap="none" strike="noStrike">
              <a:solidFill>
                <a:srgbClr val="683E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846554" y="7542564"/>
            <a:ext cx="536496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61920" y="5071169"/>
            <a:ext cx="17173686" cy="21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2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5A2D91"/>
                </a:solidFill>
                <a:latin typeface="Inter"/>
                <a:ea typeface="Inter"/>
                <a:cs typeface="Inter"/>
                <a:sym typeface="Inter"/>
              </a:rPr>
              <a:t>TALBOT HALL HOUSING TRANSITION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965226" y="8437251"/>
            <a:ext cx="4376243" cy="40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C9A22B"/>
                </a:solidFill>
                <a:latin typeface="Anton"/>
                <a:ea typeface="Anton"/>
                <a:cs typeface="Anton"/>
                <a:sym typeface="Anton"/>
              </a:rPr>
              <a:t>DONATE TODAY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8752883" y="8446776"/>
            <a:ext cx="1699250" cy="1699250"/>
          </a:xfrm>
          <a:custGeom>
            <a:rect b="b" l="l" r="r" t="t"/>
            <a:pathLst>
              <a:path extrusionOk="0" h="1699250" w="1699250">
                <a:moveTo>
                  <a:pt x="0" y="0"/>
                </a:moveTo>
                <a:lnTo>
                  <a:pt x="1699250" y="0"/>
                </a:lnTo>
                <a:lnTo>
                  <a:pt x="1699250" y="1699251"/>
                </a:lnTo>
                <a:lnTo>
                  <a:pt x="0" y="1699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656054" y="7070367"/>
            <a:ext cx="536494" cy="464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917165" y="9244282"/>
            <a:ext cx="7835718" cy="48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b="1" i="0" lang="en-US" sz="3290" u="none" cap="none" strike="noStrike">
                <a:solidFill>
                  <a:srgbClr val="FFCB0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1894 LEGACY IMPACT</a:t>
            </a:r>
            <a:r>
              <a:rPr b="0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CAMPAIGN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TRANSITION OVERVIEW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SPELMAN MOU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FY2022–FY2026 — $1,280,440/year ($640,220/installment) — Final year FY2026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SELF-MANAGED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Fall 2026 forward — Direct leasing, corporate housing, event-driven revenue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RATES SET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Pvt Eff $8K  ·  Shd Eff $7K  ·  Pvt Dorm $6K  ·  Shd Dorm $5K  (per semester)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CONFIRMED REVENUE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Fall 2026: $148,000  +  A.T.I. Summer: $65,800  =  $213,800 combined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BUILDING STATUS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Clears May 15  ·  Reloads Aug 10  ·  $437K capital investment complete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FALL 2026 OCCUPANCY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Current status: 44% occupied  (20 of 48 rooms confirmed  —  Spelman students)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Private Efficiency: $8,000/sem  ·  7 of 8 occupied  ·  Revenue: $56,000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Shared Efficiency: $7,000/sem  ·  2 of 10 occupied  ·  Revenue: $14,000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Private Dorm: $6,000/sem  ·  10 of 10 occupied  ·  Revenue: $60,000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Shared Dorm: $5,000/sem  ·  1 of 20 occupied  ·  Revenue: $5,000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A.T.I. SUMMER AGREEMENT — SIGNED</a:t>
            </a:r>
            <a:endParaRPr/>
          </a:p>
        </p:txBody>
      </p:sp>
      <p:grpSp>
        <p:nvGrpSpPr>
          <p:cNvPr id="364" name="Google Shape;364;p9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6" name="Google Shape;366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9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68" name="Google Shape;368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9" name="Google Shape;369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9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71" name="Google Shape;371;p9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9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AUCC Center for Excellence in Public &amp; Government Space  ·  Dr. Anika A. Evans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11 shared dorm rooms (June 1 – July 6, 2026):  $52,800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private efficiency units:  $8,000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Jacob's Conference Room (19 days):  $5,000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Amenities: Waived  ·  TOTAL CONTRACT VALUE:  $65,800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WORLD CUP OPPORTUNITY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FIFA World Cup Atlanta 2026 — Window: May 15 – August 10 (87 days)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Exclusive facility lease target: $275,000 – $450,000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Prospectus prepared and sent to Dan Corso / Atlanta Sports Council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Contact: Dan Corso  ·  asc@macoc.com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Decision required before May 15 — building available and renovated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"/>
          <p:cNvSpPr/>
          <p:nvPr/>
        </p:nvSpPr>
        <p:spPr>
          <a:xfrm>
            <a:off x="7589529" y="334985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95" name="Google Shape;395;p11"/>
          <p:cNvSpPr txBox="1"/>
          <p:nvPr/>
        </p:nvSpPr>
        <p:spPr>
          <a:xfrm>
            <a:off x="2706945" y="1612487"/>
            <a:ext cx="14270536" cy="107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HOUSING RECOMMENDATIONS</a:t>
            </a:r>
            <a:endParaRPr/>
          </a:p>
        </p:txBody>
      </p:sp>
      <p:grpSp>
        <p:nvGrpSpPr>
          <p:cNvPr id="396" name="Google Shape;396;p11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97" name="Google Shape;397;p11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8" name="Google Shape;398;p11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1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400" name="Google Shape;400;p11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1" name="Google Shape;401;p11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1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403" name="Google Shape;403;p11"/>
          <p:cNvCxnSpPr/>
          <p:nvPr/>
        </p:nvCxnSpPr>
        <p:spPr>
          <a:xfrm rot="10800000">
            <a:off x="2706945" y="2869225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1"/>
          <p:cNvSpPr txBox="1"/>
          <p:nvPr/>
        </p:nvSpPr>
        <p:spPr>
          <a:xfrm>
            <a:off x="646579" y="2843030"/>
            <a:ext cx="16674267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1.  Execute World Cup housing agreement before May 15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2.  Aggressive outreach for 28 remaining Fall 2026 vacant rooms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3.  COI from A.T.I. required before June 1 — follow up immediately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4.  Build corporate housing pipeline for Summer 2027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5.  Target: 75% occupancy ($360K/semester) in FY2027 model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12"/>
          <p:cNvPicPr preferRelativeResize="0"/>
          <p:nvPr/>
        </p:nvPicPr>
        <p:blipFill rotWithShape="1">
          <a:blip r:embed="rId4">
            <a:alphaModFix/>
          </a:blip>
          <a:srcRect b="32979" l="0" r="0" t="32979"/>
          <a:stretch/>
        </p:blipFill>
        <p:spPr>
          <a:xfrm>
            <a:off x="0" y="0"/>
            <a:ext cx="18288000" cy="4669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2"/>
          <p:cNvGrpSpPr/>
          <p:nvPr/>
        </p:nvGrpSpPr>
        <p:grpSpPr>
          <a:xfrm>
            <a:off x="3022128" y="3367065"/>
            <a:ext cx="12243743" cy="1776435"/>
            <a:chOff x="0" y="-38100"/>
            <a:chExt cx="3224690" cy="467868"/>
          </a:xfrm>
        </p:grpSpPr>
        <p:sp>
          <p:nvSpPr>
            <p:cNvPr id="411" name="Google Shape;411;p12"/>
            <p:cNvSpPr/>
            <p:nvPr/>
          </p:nvSpPr>
          <p:spPr>
            <a:xfrm>
              <a:off x="0" y="0"/>
              <a:ext cx="3224690" cy="429768"/>
            </a:xfrm>
            <a:custGeom>
              <a:rect b="b" l="l" r="r" t="t"/>
              <a:pathLst>
                <a:path extrusionOk="0" h="429768" w="3224690">
                  <a:moveTo>
                    <a:pt x="203200" y="0"/>
                  </a:moveTo>
                  <a:lnTo>
                    <a:pt x="3021490" y="0"/>
                  </a:lnTo>
                  <a:lnTo>
                    <a:pt x="3224690" y="429768"/>
                  </a:lnTo>
                  <a:lnTo>
                    <a:pt x="0" y="42976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2" name="Google Shape;412;p12"/>
            <p:cNvSpPr txBox="1"/>
            <p:nvPr/>
          </p:nvSpPr>
          <p:spPr>
            <a:xfrm>
              <a:off x="127000" y="-38100"/>
              <a:ext cx="2970690" cy="467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2"/>
          <p:cNvGrpSpPr/>
          <p:nvPr/>
        </p:nvGrpSpPr>
        <p:grpSpPr>
          <a:xfrm>
            <a:off x="-31986" y="9686626"/>
            <a:ext cx="18351972" cy="600374"/>
            <a:chOff x="0" y="-38100"/>
            <a:chExt cx="4833441" cy="158123"/>
          </a:xfrm>
        </p:grpSpPr>
        <p:sp>
          <p:nvSpPr>
            <p:cNvPr id="414" name="Google Shape;414;p12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2"/>
          <p:cNvSpPr/>
          <p:nvPr/>
        </p:nvSpPr>
        <p:spPr>
          <a:xfrm>
            <a:off x="10416931" y="641445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7" name="Google Shape;417;p12"/>
          <p:cNvSpPr/>
          <p:nvPr/>
        </p:nvSpPr>
        <p:spPr>
          <a:xfrm>
            <a:off x="10416931" y="713841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8" name="Google Shape;418;p12"/>
          <p:cNvSpPr/>
          <p:nvPr/>
        </p:nvSpPr>
        <p:spPr>
          <a:xfrm>
            <a:off x="10416931" y="786008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9" name="Google Shape;419;p12"/>
          <p:cNvSpPr/>
          <p:nvPr/>
        </p:nvSpPr>
        <p:spPr>
          <a:xfrm>
            <a:off x="10416931" y="858404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0" name="Google Shape;420;p12"/>
          <p:cNvSpPr txBox="1"/>
          <p:nvPr/>
        </p:nvSpPr>
        <p:spPr>
          <a:xfrm>
            <a:off x="1501954" y="4119258"/>
            <a:ext cx="15284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9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A2D9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Thoughts &amp; Clarifying Questions</a:t>
            </a:r>
            <a:endParaRPr sz="100"/>
          </a:p>
        </p:txBody>
      </p:sp>
      <p:sp>
        <p:nvSpPr>
          <p:cNvPr id="421" name="Google Shape;421;p12"/>
          <p:cNvSpPr/>
          <p:nvPr/>
        </p:nvSpPr>
        <p:spPr>
          <a:xfrm>
            <a:off x="7010400" y="666240"/>
            <a:ext cx="3135134" cy="3336532"/>
          </a:xfrm>
          <a:custGeom>
            <a:rect b="b" l="l" r="r" t="t"/>
            <a:pathLst>
              <a:path extrusionOk="0" h="3336532" w="3135134">
                <a:moveTo>
                  <a:pt x="0" y="0"/>
                </a:moveTo>
                <a:lnTo>
                  <a:pt x="3135134" y="0"/>
                </a:lnTo>
                <a:lnTo>
                  <a:pt x="3135134" y="3336532"/>
                </a:lnTo>
                <a:lnTo>
                  <a:pt x="0" y="3336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2" name="Google Shape;422;p12"/>
          <p:cNvSpPr/>
          <p:nvPr/>
        </p:nvSpPr>
        <p:spPr>
          <a:xfrm>
            <a:off x="3417020" y="6414450"/>
            <a:ext cx="6408675" cy="2843850"/>
          </a:xfrm>
          <a:custGeom>
            <a:rect b="b" l="l" r="r" t="t"/>
            <a:pathLst>
              <a:path extrusionOk="0" h="2843850" w="6408675">
                <a:moveTo>
                  <a:pt x="0" y="0"/>
                </a:moveTo>
                <a:lnTo>
                  <a:pt x="6408676" y="0"/>
                </a:lnTo>
                <a:lnTo>
                  <a:pt x="6408676" y="2843850"/>
                </a:lnTo>
                <a:lnTo>
                  <a:pt x="0" y="284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423" name="Google Shape;4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421" y="6744952"/>
            <a:ext cx="2211205" cy="221120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2"/>
          <p:cNvSpPr txBox="1"/>
          <p:nvPr/>
        </p:nvSpPr>
        <p:spPr>
          <a:xfrm>
            <a:off x="11001455" y="6448088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(404) 527-0080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11001455" y="7172055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turnerseminary.org 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11001455" y="7893717"/>
            <a:ext cx="4771945" cy="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aneal@turnerseminary.org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11001455" y="8617684"/>
            <a:ext cx="3698918" cy="64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702 Martin Luther King Jr. Dr. SW,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Atlanta, GA 30314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