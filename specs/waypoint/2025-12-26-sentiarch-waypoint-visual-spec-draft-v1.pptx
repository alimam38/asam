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Sentiarch OS + WayPoint – Visual Spec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Draft scaffold –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 7-Layer Architecture – Diagram 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Vertical stack of 7 horizontal bands from bottom (Layer 1) to top (Layer 7).</a:t>
            </a:r>
          </a:p>
          <a:p>
            <a:pPr lvl="1"/>
            <a:r>
              <a:t>Label each band with: Layer number, name, and a short subtitle (e.g., 'Layer 1 – Foundational Interpretive Substrate – Core logic, invariants, data hygiene').</a:t>
            </a:r>
          </a:p>
          <a:p>
            <a:pPr lvl="1"/>
            <a:r>
              <a:t>Use a muted color gradient from cool (bottom) to warm (top) to suggest horizon/altitude.</a:t>
            </a:r>
          </a:p>
          <a:p>
            <a:pPr lvl="1"/>
            <a:r>
              <a:t>On the right side, a vertical legend showing the three interpretive engines (Clarity, Coherence, Trajectory) spanning Layers 1–5.</a:t>
            </a:r>
          </a:p>
          <a:p>
            <a:pPr lvl="1"/>
            <a:r>
              <a:t>Footer note: 'Sits above existing cores, ledgers, CRMs – interpretation as infrastructure.'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Sandbox Lifecycle – Diagram 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Left-to-right flow diagram with 5 numbered stages, each in a rounded rectangle.</a:t>
            </a:r>
          </a:p>
          <a:p>
            <a:pPr lvl="1"/>
            <a:r>
              <a:t>Stage labels: 1) Discovery &amp; Orientation, 2) Bridge &amp; Heatseeker Review, 3) Pilot Design, 4) Sandbox Execution, 5) Outcome Review &amp; Scaling Path.</a:t>
            </a:r>
          </a:p>
          <a:p>
            <a:pPr lvl="1"/>
            <a:r>
              <a:t>Under each block, a 2–3 word sublabel (e.g., 'Map &amp; intake', 'Institutional mirror', 'Bounded pilot', 'Live interpretation', 'Scale or stop').</a:t>
            </a:r>
          </a:p>
          <a:p>
            <a:pPr lvl="1"/>
            <a:r>
              <a:t>Use arrows between stages; underneath the flow, a thin timeline bar showing typical duration (e.g., weeks vs months).</a:t>
            </a:r>
          </a:p>
          <a:p>
            <a:pPr lvl="1"/>
            <a:r>
              <a:t>Callout box above Stages 3–5 labelled 'Governed sandbox: bounded population, clear guardrails, explicit risk posture.'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 Nodes &amp; Envoy Grid – Diagram 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Two-panel layout: left = micro view ('one builder / household'); right = macro envoys grid ('many nodes').</a:t>
            </a:r>
          </a:p>
          <a:p>
            <a:pPr lvl="1"/>
            <a:r>
              <a:t>Left panel: a central node with 5 surrounding icons or bars for Liquidity, Stability, Protection, Access, Structure + a small arrowed path showing change over time.</a:t>
            </a:r>
          </a:p>
          <a:p>
            <a:pPr lvl="1"/>
            <a:r>
              <a:t>Right panel: a matrix or constellation of many small nodes in clusters, with a few highlighted (e.g., 'stabilizing cohort', 'silent strugglers', 'high-potential under-served').</a:t>
            </a:r>
          </a:p>
          <a:p>
            <a:pPr lvl="1"/>
            <a:r>
              <a:t>Overlay on the right: translucent bands or outlines showing how different institutions touch overlapping regions of the grid (e.g., Bank A, CDFI, Insurer).</a:t>
            </a:r>
          </a:p>
          <a:p>
            <a:pPr lvl="1"/>
            <a:r>
              <a:t>Bottom caption: 'Envoy FPS organizes raw events into nodes, trajectories, and guidance pathways on a shared grid.'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Signal Report – Layout 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Single-page layout mock for one person/household/business (can be reused across contexts).</a:t>
            </a:r>
          </a:p>
          <a:p>
            <a:pPr lvl="1"/>
            <a:r>
              <a:t>Top: header bar with name/ID placeholder, date, and a short textual summary line (e.g., 'Stretched but stabilizable in 90 days with 2–3 key changes.').</a:t>
            </a:r>
          </a:p>
          <a:p>
            <a:pPr lvl="1"/>
            <a:r>
              <a:t>Left side: 5-dimension visual (radar chart or stacked bars): Liquidity, Stability, Protection, Access, Structure, each with a banded range and current position marker.</a:t>
            </a:r>
          </a:p>
          <a:p>
            <a:pPr lvl="1"/>
            <a:r>
              <a:t>Right side upper: 'What this means' – 2–3 short narrative bullet sentences translating the visual into plain language.</a:t>
            </a:r>
          </a:p>
          <a:p>
            <a:pPr lvl="1"/>
            <a:r>
              <a:t>Bottom left: 'What’s helping vs. hurting' – two columns listing 3–5 key positive and negative drivers.</a:t>
            </a:r>
          </a:p>
          <a:p>
            <a:pPr lvl="1"/>
            <a:r>
              <a:t>Bottom right: 'Routes from here' – boxes for Route A, Route B, Route C with 1–2 lines each (goal, time horizon, expected signal shift).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WayPoint Customer Surfaces – Views 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Three-column layout (or three separate sub-views) representing: Personal WayPoint, Shared WayPoint, Builder Cockpit.</a:t>
            </a:r>
          </a:p>
          <a:p>
            <a:pPr lvl="1"/>
            <a:r>
              <a:t>Personal WayPoint: mobile-first mock – Financial Signal at top, key numbers (runway, buffer), and 1–3 routes listed as tappable cards.</a:t>
            </a:r>
          </a:p>
          <a:p>
            <a:pPr lvl="1"/>
            <a:r>
              <a:t>Shared WayPoint: tablet/desktop mock – combined household view with explicit avatars for participants, toggles for 'what is shared', and a shared Signal plus goals strip.</a:t>
            </a:r>
          </a:p>
          <a:p>
            <a:pPr lvl="1"/>
            <a:r>
              <a:t>Builder Cockpit: desktop mock – segmented view with business cashflow graph, key KPIs (runway, concentration, obligations), and a panel showing household impact linkages.</a:t>
            </a:r>
          </a:p>
          <a:p>
            <a:pPr lvl="1"/>
            <a:r>
              <a:t>Footer strip showing that all three surfaces share the same positioning engine and can invite collaborators (family, advisors, institutions) into scoped 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WayPoint BaaS Rails – Core / Edge / Crown Diagram 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Stacked horizontal tiers labelled Core, Edge, Crown from bottom to top, sharing a central 'WayPoint Positioning Experience' column.</a:t>
            </a:r>
          </a:p>
          <a:p>
            <a:pPr lvl="1"/>
            <a:r>
              <a:t>Core tier: icons for everyday households &amp; builders; partner bank logos/placeholder boxes underneath; annotations for deposits, payments, envelopes.</a:t>
            </a:r>
          </a:p>
          <a:p>
            <a:pPr lvl="1"/>
            <a:r>
              <a:t>Edge tier: icons for complex/emerging verticals (e.g., cannabis leaf, creator icon); callout: 'glass-walled sandbox rails inside regulated perimeter'; space for 1–2 example partners.</a:t>
            </a:r>
          </a:p>
          <a:p>
            <a:pPr lvl="1"/>
            <a:r>
              <a:t>Crown tier: icons for family offices, trusts, institutional stewards; callout for 'resilience, inter-generational stability, Eden Crown-style stabilizers'; partner trust/insurer placeholders.</a:t>
            </a:r>
          </a:p>
          <a:p>
            <a:pPr lvl="1"/>
            <a:r>
              <a:t>Behind or beneath all tiers: a subtle band labelled 'Sentiarch OS – Interpretive &amp; governance layer' and an annotation that banks/partners hold deposits and regulatory obligations.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