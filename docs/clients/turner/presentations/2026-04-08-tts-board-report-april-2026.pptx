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3.jp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9.png"/><Relationship Id="rId9" Type="http://schemas.openxmlformats.org/officeDocument/2006/relationships/image" Target="../media/image12.png"/><Relationship Id="rId10" Type="http://schemas.openxmlformats.org/officeDocument/2006/relationships/image" Target="../media/image19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28518" l="124" r="3545" t="24623"/>
          <a:stretch/>
        </p:blipFill>
        <p:spPr>
          <a:xfrm>
            <a:off x="537299" y="14992"/>
            <a:ext cx="17723025" cy="4849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-144661"/>
            <a:ext cx="537299" cy="10431661"/>
            <a:chOff x="0" y="-38100"/>
            <a:chExt cx="141511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141511" cy="2709333"/>
            </a:xfrm>
            <a:custGeom>
              <a:rect b="b" l="l" r="r" t="t"/>
              <a:pathLst>
                <a:path extrusionOk="0" h="2709333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14151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11948842" y="8399151"/>
            <a:ext cx="1163662" cy="1238414"/>
          </a:xfrm>
          <a:custGeom>
            <a:rect b="b" l="l" r="r" t="t"/>
            <a:pathLst>
              <a:path extrusionOk="0" h="1238414" w="1163662">
                <a:moveTo>
                  <a:pt x="0" y="0"/>
                </a:moveTo>
                <a:lnTo>
                  <a:pt x="1163662" y="0"/>
                </a:lnTo>
                <a:lnTo>
                  <a:pt x="1163662" y="1238415"/>
                </a:lnTo>
                <a:lnTo>
                  <a:pt x="0" y="1238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3" name="Google Shape;93;p1"/>
          <p:cNvSpPr txBox="1"/>
          <p:nvPr/>
        </p:nvSpPr>
        <p:spPr>
          <a:xfrm>
            <a:off x="13223529" y="8638707"/>
            <a:ext cx="54441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Dr. Ammie L. Davis, President &amp; CEO</a:t>
            </a:r>
            <a:endParaRPr/>
          </a:p>
        </p:txBody>
      </p:sp>
      <p:grpSp>
        <p:nvGrpSpPr>
          <p:cNvPr id="94" name="Google Shape;94;p1"/>
          <p:cNvGrpSpPr/>
          <p:nvPr/>
        </p:nvGrpSpPr>
        <p:grpSpPr>
          <a:xfrm>
            <a:off x="11119900" y="8067549"/>
            <a:ext cx="537655" cy="2201797"/>
            <a:chOff x="0" y="0"/>
            <a:chExt cx="141600" cy="1138056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41511" cy="1138056"/>
            </a:xfrm>
            <a:custGeom>
              <a:rect b="b" l="l" r="r" t="t"/>
              <a:pathLst>
                <a:path extrusionOk="0" h="1138056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1138056"/>
                  </a:lnTo>
                  <a:lnTo>
                    <a:pt x="0" y="1138056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369716"/>
              <a:ext cx="141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9139238" y="4979532"/>
            <a:ext cx="9525" cy="280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3192835" y="9120357"/>
            <a:ext cx="4234558" cy="652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FOR A PREPARED MINISTRY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39" u="none" cap="none" strike="noStrike">
              <a:solidFill>
                <a:srgbClr val="683E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846554" y="7542564"/>
            <a:ext cx="536496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561920" y="5071169"/>
            <a:ext cx="17173686" cy="21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2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5A2D91"/>
                </a:solidFill>
                <a:latin typeface="Inter"/>
                <a:ea typeface="Inter"/>
                <a:cs typeface="Inter"/>
                <a:sym typeface="Inter"/>
              </a:rPr>
              <a:t>BOARD FINANCIAL REPORT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965226" y="8437251"/>
            <a:ext cx="4376243" cy="40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C9A22B"/>
                </a:solidFill>
                <a:latin typeface="Anton"/>
                <a:ea typeface="Anton"/>
                <a:cs typeface="Anton"/>
                <a:sym typeface="Anton"/>
              </a:rPr>
              <a:t>DONATE TODAY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8752883" y="8446776"/>
            <a:ext cx="1699250" cy="1699250"/>
          </a:xfrm>
          <a:custGeom>
            <a:rect b="b" l="l" r="r" t="t"/>
            <a:pathLst>
              <a:path extrusionOk="0" h="1699250" w="1699250">
                <a:moveTo>
                  <a:pt x="0" y="0"/>
                </a:moveTo>
                <a:lnTo>
                  <a:pt x="1699250" y="0"/>
                </a:lnTo>
                <a:lnTo>
                  <a:pt x="1699250" y="1699251"/>
                </a:lnTo>
                <a:lnTo>
                  <a:pt x="0" y="1699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656054" y="7070367"/>
            <a:ext cx="536494" cy="464819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917165" y="9244282"/>
            <a:ext cx="7835718" cy="48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b="1" i="0" lang="en-US" sz="3290" u="none" cap="none" strike="noStrike">
                <a:solidFill>
                  <a:srgbClr val="FFCB0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1894 LEGACY IMPACT</a:t>
            </a:r>
            <a:r>
              <a:rPr b="0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CAMPAIGN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FY2025 AUDIT RESULTS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AUDIT OPINION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Unqualified (Clean) Opinion — Wesley Peachtree Group, CPAs — March 2, 2026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NO GOING CONCERN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Financial statements present fairly in all material respects per US GAAP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TRACS CANDIDACY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TRACS Candidacy confirmed in audit — USDE recognition confirmed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TITLE IV STATUS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PPA submitted March 20, 2026 — Pending USDE approval — anticipated Spring 2027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CASH POSITION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FY2025 deficit ($101,626) resolves to +$13,991 after $115,617 non-cash depreciation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DEPRECIATION BRIDGE</a:t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8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55" name="Google Shape;355;p8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FY2025 reported deficit includes $115,617 in depreciation — a non-cash charge.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Reported Net Deficit:  ($101,626)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+ Depreciation Add-Back:  + $115,617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= Cash-Adjusted Result:  + $13,991  ✓ Cash-Positive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Cash decrease of $214,236 = Spelman timing ($621K) + Capex ($438K) + LOC proceeds ($867K)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FY2026 YEAR-TO-DATE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TOTAL REVENUE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$1,782,964  (July 2025 – February 2026  ·  8 months)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NET INCOME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$287,116  including investment gains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HOUSING REVENUE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$1,163,154  —  $337,251 above budget  (+41%)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LINE OF CREDIT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$899,102 outstanding at 8.5%  —  ~$76,000 annual interest  —  Matures Aug 2027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BOARD GIVING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$27,785 received of $100,000 FY2026 commitment  (41.7%)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RISK FLAGS — BOARD ACTION</a:t>
            </a:r>
            <a:endParaRPr/>
          </a:p>
        </p:txBody>
      </p:sp>
      <p:grpSp>
        <p:nvGrpSpPr>
          <p:cNvPr id="364" name="Google Shape;364;p9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65" name="Google Shape;365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6" name="Google Shape;366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9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68" name="Google Shape;368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9" name="Google Shape;369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9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71" name="Google Shape;371;p9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9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CRITICAL — LOC: $899,102 at 8.5% = 50% of YTD revenue. Paydown plan required at this meeting.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CRITICAL — Aid Rate: 95.4% of gross tuition. Net tuition only $86,720 on $790K gross.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HIGH — Board Giving: 41.7% of YTD target. Full participation required before June 30.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HIGH — Housing: Fall 2026 at 44% occupancy. World Cup window closing — decision needed.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MONITOR — SACSCOC: Petition filed March 31. Council response expected Q2 2026.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SACSCOC CORRECTIVE PLAN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 1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Contractor and payroll reductions in FY2026 — IMPLEMENTED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 2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Strengthened advancement and enrollment strategies — IN PROGRESS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 3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Executive Director of Institutional Advancement engaged — HIRED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 4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Scholarship award limits being formalized for Fall 2026 — IN PROCESS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COMMITMENTS 5 &amp; 6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Enrollment initiatives active; Active Board oversight confirmed and documented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"/>
          <p:cNvSpPr/>
          <p:nvPr/>
        </p:nvSpPr>
        <p:spPr>
          <a:xfrm>
            <a:off x="7589529" y="334985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395" name="Google Shape;395;p11"/>
          <p:cNvSpPr txBox="1"/>
          <p:nvPr/>
        </p:nvSpPr>
        <p:spPr>
          <a:xfrm>
            <a:off x="2706945" y="1612487"/>
            <a:ext cx="14270536" cy="1077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RECOMMENDATIONS FOR BOARD ACTION</a:t>
            </a:r>
            <a:endParaRPr/>
          </a:p>
        </p:txBody>
      </p:sp>
      <p:grpSp>
        <p:nvGrpSpPr>
          <p:cNvPr id="396" name="Google Shape;396;p11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97" name="Google Shape;397;p11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8" name="Google Shape;398;p11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1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400" name="Google Shape;400;p11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1" name="Google Shape;401;p11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1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403" name="Google Shape;403;p11"/>
          <p:cNvCxnSpPr/>
          <p:nvPr/>
        </p:nvCxnSpPr>
        <p:spPr>
          <a:xfrm rot="10800000">
            <a:off x="2706945" y="2869225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11"/>
          <p:cNvSpPr txBox="1"/>
          <p:nvPr/>
        </p:nvSpPr>
        <p:spPr>
          <a:xfrm>
            <a:off x="646579" y="2843030"/>
            <a:ext cx="16674267" cy="3724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1.  Present LOC paydown schedule at this meeting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2.  Full Board giving participation before June 30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3.  Adopt formal scholarship limits before Fall 2026 enrollment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4.  Confirm execution of all 6 SACSCOC petition commitments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5.  Execute World Cup housing agreement before May 15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6.  Assign Title IV tracking champion — monthly status to Board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7.  Board approval required: 6 financial policies (Petty Cash, Cash Handling, EFT, etc.)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12"/>
          <p:cNvPicPr preferRelativeResize="0"/>
          <p:nvPr/>
        </p:nvPicPr>
        <p:blipFill rotWithShape="1">
          <a:blip r:embed="rId4">
            <a:alphaModFix/>
          </a:blip>
          <a:srcRect b="32979" l="0" r="0" t="32979"/>
          <a:stretch/>
        </p:blipFill>
        <p:spPr>
          <a:xfrm>
            <a:off x="0" y="0"/>
            <a:ext cx="18288000" cy="4669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12"/>
          <p:cNvGrpSpPr/>
          <p:nvPr/>
        </p:nvGrpSpPr>
        <p:grpSpPr>
          <a:xfrm>
            <a:off x="3022128" y="3367065"/>
            <a:ext cx="12243743" cy="1776435"/>
            <a:chOff x="0" y="-38100"/>
            <a:chExt cx="3224690" cy="467868"/>
          </a:xfrm>
        </p:grpSpPr>
        <p:sp>
          <p:nvSpPr>
            <p:cNvPr id="411" name="Google Shape;411;p12"/>
            <p:cNvSpPr/>
            <p:nvPr/>
          </p:nvSpPr>
          <p:spPr>
            <a:xfrm>
              <a:off x="0" y="0"/>
              <a:ext cx="3224690" cy="429768"/>
            </a:xfrm>
            <a:custGeom>
              <a:rect b="b" l="l" r="r" t="t"/>
              <a:pathLst>
                <a:path extrusionOk="0" h="429768" w="3224690">
                  <a:moveTo>
                    <a:pt x="203200" y="0"/>
                  </a:moveTo>
                  <a:lnTo>
                    <a:pt x="3021490" y="0"/>
                  </a:lnTo>
                  <a:lnTo>
                    <a:pt x="3224690" y="429768"/>
                  </a:lnTo>
                  <a:lnTo>
                    <a:pt x="0" y="42976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2" name="Google Shape;412;p12"/>
            <p:cNvSpPr txBox="1"/>
            <p:nvPr/>
          </p:nvSpPr>
          <p:spPr>
            <a:xfrm>
              <a:off x="127000" y="-38100"/>
              <a:ext cx="2970690" cy="467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12"/>
          <p:cNvGrpSpPr/>
          <p:nvPr/>
        </p:nvGrpSpPr>
        <p:grpSpPr>
          <a:xfrm>
            <a:off x="-31986" y="9686626"/>
            <a:ext cx="18351972" cy="600374"/>
            <a:chOff x="0" y="-38100"/>
            <a:chExt cx="4833441" cy="158123"/>
          </a:xfrm>
        </p:grpSpPr>
        <p:sp>
          <p:nvSpPr>
            <p:cNvPr id="414" name="Google Shape;414;p12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5" name="Google Shape;415;p12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12"/>
          <p:cNvSpPr/>
          <p:nvPr/>
        </p:nvSpPr>
        <p:spPr>
          <a:xfrm>
            <a:off x="10416931" y="641445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7" name="Google Shape;417;p12"/>
          <p:cNvSpPr/>
          <p:nvPr/>
        </p:nvSpPr>
        <p:spPr>
          <a:xfrm>
            <a:off x="10416931" y="713841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8" name="Google Shape;418;p12"/>
          <p:cNvSpPr/>
          <p:nvPr/>
        </p:nvSpPr>
        <p:spPr>
          <a:xfrm>
            <a:off x="10416931" y="786008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9" name="Google Shape;419;p12"/>
          <p:cNvSpPr/>
          <p:nvPr/>
        </p:nvSpPr>
        <p:spPr>
          <a:xfrm>
            <a:off x="10416931" y="858404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0" name="Google Shape;420;p12"/>
          <p:cNvSpPr txBox="1"/>
          <p:nvPr/>
        </p:nvSpPr>
        <p:spPr>
          <a:xfrm>
            <a:off x="1501954" y="4119258"/>
            <a:ext cx="15284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97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A2D9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Thoughts &amp; Clarifying Questions</a:t>
            </a:r>
            <a:endParaRPr sz="100"/>
          </a:p>
        </p:txBody>
      </p:sp>
      <p:sp>
        <p:nvSpPr>
          <p:cNvPr id="421" name="Google Shape;421;p12"/>
          <p:cNvSpPr/>
          <p:nvPr/>
        </p:nvSpPr>
        <p:spPr>
          <a:xfrm>
            <a:off x="7010400" y="666240"/>
            <a:ext cx="3135134" cy="3336532"/>
          </a:xfrm>
          <a:custGeom>
            <a:rect b="b" l="l" r="r" t="t"/>
            <a:pathLst>
              <a:path extrusionOk="0" h="3336532" w="3135134">
                <a:moveTo>
                  <a:pt x="0" y="0"/>
                </a:moveTo>
                <a:lnTo>
                  <a:pt x="3135134" y="0"/>
                </a:lnTo>
                <a:lnTo>
                  <a:pt x="3135134" y="3336532"/>
                </a:lnTo>
                <a:lnTo>
                  <a:pt x="0" y="3336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2" name="Google Shape;422;p12"/>
          <p:cNvSpPr/>
          <p:nvPr/>
        </p:nvSpPr>
        <p:spPr>
          <a:xfrm>
            <a:off x="3417020" y="6414450"/>
            <a:ext cx="6408675" cy="2843850"/>
          </a:xfrm>
          <a:custGeom>
            <a:rect b="b" l="l" r="r" t="t"/>
            <a:pathLst>
              <a:path extrusionOk="0" h="2843850" w="6408675">
                <a:moveTo>
                  <a:pt x="0" y="0"/>
                </a:moveTo>
                <a:lnTo>
                  <a:pt x="6408676" y="0"/>
                </a:lnTo>
                <a:lnTo>
                  <a:pt x="6408676" y="2843850"/>
                </a:lnTo>
                <a:lnTo>
                  <a:pt x="0" y="2843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423" name="Google Shape;4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6421" y="6744952"/>
            <a:ext cx="2211205" cy="221120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2"/>
          <p:cNvSpPr txBox="1"/>
          <p:nvPr/>
        </p:nvSpPr>
        <p:spPr>
          <a:xfrm>
            <a:off x="11001455" y="6448088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(404) 527-0080</a:t>
            </a:r>
            <a:endParaRPr/>
          </a:p>
        </p:txBody>
      </p:sp>
      <p:sp>
        <p:nvSpPr>
          <p:cNvPr id="425" name="Google Shape;425;p12"/>
          <p:cNvSpPr txBox="1"/>
          <p:nvPr/>
        </p:nvSpPr>
        <p:spPr>
          <a:xfrm>
            <a:off x="11001455" y="7172055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turnerseminary.org </a:t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11001455" y="7893717"/>
            <a:ext cx="4771945" cy="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aneal@turnerseminary.org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11001455" y="8617684"/>
            <a:ext cx="3698918" cy="646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702 Martin Luther King Jr. Dr. SW,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Atlanta, GA 30314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