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4A21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0.9</c:v>
                </c:pt>
                <c:pt idx="2">
                  <c:v>1.4</c:v>
                </c:pt>
                <c:pt idx="3">
                  <c:v>1.7</c:v>
                </c:pt>
                <c:pt idx="4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21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1267087</c:v>
                </c:pt>
                <c:pt idx="1">
                  <c:v>1494174</c:v>
                </c:pt>
                <c:pt idx="2">
                  <c:v>1969095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Endowment</c:v>
                </c:pt>
              </c:strCache>
            </c:strRef>
          </c:tx>
          <c:spPr>
            <a:solidFill>
              <a:srgbClr val="4A21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332229</c:v>
                </c:pt>
                <c:pt idx="1">
                  <c:v>366950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Donor Restricted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336837</c:v>
                </c:pt>
                <c:pt idx="1">
                  <c:v>355837</c:v>
                </c:pt>
                <c:pt idx="2">
                  <c:v>360665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U R N E R   T H E O L O G I C A L   S E M I N A R 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Institution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Report &amp; Institutional Position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2024–2025 | Audited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Office of Business &amp; Finance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Dr. Ammie L. Davis, President &amp; CEO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FOR A PREPARED MINISTRY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Framing FY2025: The Investment 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institution that builds for the future experiences a year where investment outpaces return. FY2025 was that year for Turner.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invested $775K in building improvements and equipment. We expanded housing capacity. We launched the accreditation journey across three agencies simultaneously. We hired a Controller and began professionalizing financial operations.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composite score reflects this investment. It is a measure of reserves, not vitality. Turner is building.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377440" cy="109728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0"/>
            <a:ext cx="2377440" cy="109728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2377440" cy="109728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Three-Year Financial Trajectory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Results | June 30, 2023 – June 30,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$1.27M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$1.49M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$1.97M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 (3yr)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$967K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$1.41M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$2.08M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+115% (3yr)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423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344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645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$1.10M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$1.73M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$1.89M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58952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+72% (3yr)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423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632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Assets (unrestricted)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$551K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$612K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$505K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82880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 (3yr)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0632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Endowment (restricted)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$337K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$356K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$361K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70916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(3yr)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8328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063240"/>
            <a:ext cx="2697480" cy="160020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063240"/>
            <a:ext cx="2697480" cy="36576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 Investment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$660K</a:t>
            </a:r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FY24: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$1.01M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$1.33M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 (3yr)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6364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Composite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Financial Responsibility Score | Scale: -1.0 to 3.0 | Threshold: 1.5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167128"/>
            <a:ext cx="411480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200400" y="1965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Threshold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931920" cy="22860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Drove the Change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6459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Reserve Ratio (40% 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 grew $322K without matching debt, pushing expendable net assets to ($829K). This ratio hit the scoring floor.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Ratio (20% 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surplus of $61K became a $106K deficit. Flipped the ratio from positive to negative.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Ratio (40% 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relatively stable: 0.56 to 0.46. Net assets remain positive relative to total assets.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7947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composite score measures reserves, not institutional vitality.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Turner invested $775K in building improvements and equipment over two years. The formula penalizes this investment. The capacity to return above 1.5 exists within the current revenue base by achieving a modest 2-4% operating surplus in FY2026.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Investment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investments that serve Turner for decades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$425K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300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Improvements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Talbot Hall upgrades enabling Spelman partnership and expanded housing capacity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4023360" cy="14630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$451K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06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Furnishings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technology, campus infrastructure, and CORT furniture generating net lease income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1430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Credit Secured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Sept 2024, providing operational flexibility during growth. First institutional credit facility.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Agencies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544068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Pursuit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3776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TRACS, SACSCOC, and ATS simultaneously. A rare triple-accreditation path that positions Turner among elite theological institutions.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Growth: +55% in Two Years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005840"/>
            <a:ext cx="3931920" cy="27432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1463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doubled in two years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 Composition: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&amp; Grants: $639K (43%)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Auxiliary/Housing: $610K (41%)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&amp; Fees: $136K (9%)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&amp; Investment: $109K (7%)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grew 229% YoY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is the next financial stabilizer.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Denominational Support: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Sixth Episcopal District contributed $167K and the Connectional AME Church contributed $267K in FY2024. The Church's investment in theological education remains the foundation.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Endowment: Protected &amp; Growing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endowment corpus has been invaded for operations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188720"/>
            <a:ext cx="3474720" cy="256032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0" y="12801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Highlights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corpus: $336,837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across all three years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contributions: +$19,000 (FY2024)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permanent base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returns: +$34,721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positive returns in FY2024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policy: 5% of 3-year rolling avg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intergenerational sustainability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Strengthening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&amp; Corrective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261872"/>
            <a:ext cx="164592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unrestricted cash reserves. LOC used strategically during non-peak months.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Endowment Roll-Forward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176272"/>
            <a:ext cx="164592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completed 4-year retroactive reconciliation. Monthly updates now part of close process.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Expense Allocation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3090672"/>
            <a:ext cx="164592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Realigning to NACUBO standards. Target: 70-80% program expense ratio.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of Accounts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4005072"/>
            <a:ext cx="164592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trial balance to track by function, program, grant, and fund per ASU 2016-14.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audit opinion received for both FY2024 and FY2025. No material weaknesses identified.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Restoration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Targets to Restore Composite Score Above 1.5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188720"/>
            <a:ext cx="749808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234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 2-4% Operating Surplus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expense growth below revenue growth. Target $40K-$80K surplus. Restores net income ratio to positive, adding ~0.60 points to composite.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64008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103120"/>
            <a:ext cx="749808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148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Capital Expenditures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maintenance over new construction. Each dollar of PP&amp;E not offset by long-term debt reduces expendable net assets dollar-for-dollar.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640080" cy="777240"/>
          </a:xfrm>
          <a:prstGeom prst="rect">
            <a:avLst/>
          </a:prstGeom>
          <a:solidFill>
            <a:srgbClr val="4A217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3017520"/>
            <a:ext cx="749808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Debt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LOC balance classified as long-term debt secured by property. Formula adds back long-term debt up to net PP&amp;E value, significantly improving primary reserve ratio.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640080" cy="7772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88720" y="3931920"/>
            <a:ext cx="7498080" cy="777240"/>
          </a:xfrm>
          <a:prstGeom prst="rect">
            <a:avLst/>
          </a:prstGeom>
          <a:solidFill>
            <a:srgbClr val="F8F6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3977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Enrollment Revenue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297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housing concentration below 60%. Tuition grew 229% last year. Enrollment is the next financial stabilizer. Accreditation unlocks federal financial aid.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 | State of the Institution FY2025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Stewardship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Turner Theological Seminary enters FY2026 at an inflection point — not a crisis.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has grown 55% in two years. Total assets have increased 72%. The endowment is protected and growing. Building improvements serve the institution for decades. The accreditation journey positions Turner among the most ambitious theological institutions in the nation.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composite score reflects the mathematics of investment, not the health of this institution. The path to restoration is clear, achievable, and already underway.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profiting off our students. We are investing in them.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Ammie L. Davis, President &amp;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FOR A PREPARED MINISTRY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Turner Theological Seminary — State of the Institution Financial Report FY2025</dc:title>
  <dc:subject>PptxGenJS Presentation</dc:subject>
  <dc:creator>Office of Business &amp; Finance</dc:creator>
  <cp:lastModifiedBy>Office of Business &amp; Finance</cp:lastModifiedBy>
  <cp:revision>1</cp:revision>
  <dcterms:created xsi:type="dcterms:W3CDTF">2026-03-18T02:45:14Z</dcterms:created>
  <dcterms:modified xsi:type="dcterms:W3CDTF">2026-03-18T02:45:14Z</dcterms:modified>
</cp:coreProperties>
</file>