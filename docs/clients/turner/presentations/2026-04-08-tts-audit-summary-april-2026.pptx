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jp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3.jp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Relationship Id="rId8" Type="http://schemas.openxmlformats.org/officeDocument/2006/relationships/image" Target="../media/image9.png"/><Relationship Id="rId9" Type="http://schemas.openxmlformats.org/officeDocument/2006/relationships/image" Target="../media/image12.png"/><Relationship Id="rId10" Type="http://schemas.openxmlformats.org/officeDocument/2006/relationships/image" Target="../media/image19.png"/><Relationship Id="rId1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28518" l="124" r="3545" t="24623"/>
          <a:stretch/>
        </p:blipFill>
        <p:spPr>
          <a:xfrm>
            <a:off x="537299" y="14992"/>
            <a:ext cx="17723025" cy="48493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"/>
          <p:cNvGrpSpPr/>
          <p:nvPr/>
        </p:nvGrpSpPr>
        <p:grpSpPr>
          <a:xfrm>
            <a:off x="0" y="-144661"/>
            <a:ext cx="537299" cy="10431661"/>
            <a:chOff x="0" y="-38100"/>
            <a:chExt cx="141511" cy="2747433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141511" cy="2709333"/>
            </a:xfrm>
            <a:custGeom>
              <a:rect b="b" l="l" r="r" t="t"/>
              <a:pathLst>
                <a:path extrusionOk="0" h="2709333" w="141511">
                  <a:moveTo>
                    <a:pt x="0" y="0"/>
                  </a:moveTo>
                  <a:lnTo>
                    <a:pt x="141511" y="0"/>
                  </a:lnTo>
                  <a:lnTo>
                    <a:pt x="14151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1" name="Google Shape;91;p1"/>
            <p:cNvSpPr txBox="1"/>
            <p:nvPr/>
          </p:nvSpPr>
          <p:spPr>
            <a:xfrm>
              <a:off x="0" y="-38100"/>
              <a:ext cx="14151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>
            <a:off x="11948842" y="8399151"/>
            <a:ext cx="1163662" cy="1238414"/>
          </a:xfrm>
          <a:custGeom>
            <a:rect b="b" l="l" r="r" t="t"/>
            <a:pathLst>
              <a:path extrusionOk="0" h="1238414" w="1163662">
                <a:moveTo>
                  <a:pt x="0" y="0"/>
                </a:moveTo>
                <a:lnTo>
                  <a:pt x="1163662" y="0"/>
                </a:lnTo>
                <a:lnTo>
                  <a:pt x="1163662" y="1238415"/>
                </a:lnTo>
                <a:lnTo>
                  <a:pt x="0" y="12384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93" name="Google Shape;93;p1"/>
          <p:cNvSpPr txBox="1"/>
          <p:nvPr/>
        </p:nvSpPr>
        <p:spPr>
          <a:xfrm>
            <a:off x="13223529" y="8638707"/>
            <a:ext cx="544418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E88"/>
                </a:solidFill>
                <a:latin typeface="Poppins"/>
                <a:ea typeface="Poppins"/>
                <a:cs typeface="Poppins"/>
                <a:sym typeface="Poppins"/>
              </a:rPr>
              <a:t>Wesley Peachtree Group, CPAs  ·  Issued: March 2, 2026</a:t>
            </a:r>
            <a:endParaRPr/>
          </a:p>
        </p:txBody>
      </p:sp>
      <p:grpSp>
        <p:nvGrpSpPr>
          <p:cNvPr id="94" name="Google Shape;94;p1"/>
          <p:cNvGrpSpPr/>
          <p:nvPr/>
        </p:nvGrpSpPr>
        <p:grpSpPr>
          <a:xfrm>
            <a:off x="11119900" y="8067549"/>
            <a:ext cx="537655" cy="2201797"/>
            <a:chOff x="0" y="0"/>
            <a:chExt cx="141600" cy="1138056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141511" cy="1138056"/>
            </a:xfrm>
            <a:custGeom>
              <a:rect b="b" l="l" r="r" t="t"/>
              <a:pathLst>
                <a:path extrusionOk="0" h="1138056" w="141511">
                  <a:moveTo>
                    <a:pt x="0" y="0"/>
                  </a:moveTo>
                  <a:lnTo>
                    <a:pt x="141511" y="0"/>
                  </a:lnTo>
                  <a:lnTo>
                    <a:pt x="141511" y="1138056"/>
                  </a:lnTo>
                  <a:lnTo>
                    <a:pt x="0" y="1138056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369716"/>
              <a:ext cx="141600" cy="7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1"/>
          <p:cNvSpPr txBox="1"/>
          <p:nvPr/>
        </p:nvSpPr>
        <p:spPr>
          <a:xfrm>
            <a:off x="9139238" y="4979532"/>
            <a:ext cx="9525" cy="280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3192835" y="9120357"/>
            <a:ext cx="4234558" cy="652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39" u="none" cap="none" strike="noStrike">
                <a:solidFill>
                  <a:srgbClr val="683E88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i="1" lang="en-US" sz="2439" u="none" cap="none" strike="noStrike">
                <a:solidFill>
                  <a:srgbClr val="683E8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1" lang="en-US" sz="2439" u="none" cap="none" strike="noStrike">
                <a:solidFill>
                  <a:srgbClr val="683E88"/>
                </a:solidFill>
                <a:latin typeface="Poppins"/>
                <a:ea typeface="Poppins"/>
                <a:cs typeface="Poppins"/>
                <a:sym typeface="Poppins"/>
              </a:rPr>
              <a:t>FOR A PREPARED MINISTRY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439" u="none" cap="none" strike="noStrike">
              <a:solidFill>
                <a:srgbClr val="683E8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3846554" y="7542564"/>
            <a:ext cx="536496" cy="213359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/>
        </p:nvSpPr>
        <p:spPr>
          <a:xfrm>
            <a:off x="561920" y="5071169"/>
            <a:ext cx="17173686" cy="2105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28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5A2D91"/>
                </a:solidFill>
                <a:latin typeface="Inter"/>
                <a:ea typeface="Inter"/>
                <a:cs typeface="Inter"/>
                <a:sym typeface="Inter"/>
              </a:rPr>
              <a:t>FY2025 AUDIT REPORT SUMMARY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1965226" y="8437251"/>
            <a:ext cx="4376243" cy="40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0" u="none" cap="none" strike="noStrike">
                <a:solidFill>
                  <a:srgbClr val="C9A22B"/>
                </a:solidFill>
                <a:latin typeface="Anton"/>
                <a:ea typeface="Anton"/>
                <a:cs typeface="Anton"/>
                <a:sym typeface="Anton"/>
              </a:rPr>
              <a:t>DONATE TODAY</a:t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8752883" y="8446776"/>
            <a:ext cx="1699250" cy="1699250"/>
          </a:xfrm>
          <a:custGeom>
            <a:rect b="b" l="l" r="r" t="t"/>
            <a:pathLst>
              <a:path extrusionOk="0" h="1699250" w="1699250">
                <a:moveTo>
                  <a:pt x="0" y="0"/>
                </a:moveTo>
                <a:lnTo>
                  <a:pt x="1699250" y="0"/>
                </a:lnTo>
                <a:lnTo>
                  <a:pt x="1699250" y="1699251"/>
                </a:lnTo>
                <a:lnTo>
                  <a:pt x="0" y="16992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3656054" y="7070367"/>
            <a:ext cx="536494" cy="464819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 txBox="1"/>
          <p:nvPr/>
        </p:nvSpPr>
        <p:spPr>
          <a:xfrm>
            <a:off x="917165" y="9244282"/>
            <a:ext cx="7835718" cy="48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90" u="none" cap="none" strike="noStrike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THE</a:t>
            </a:r>
            <a:r>
              <a:rPr b="1" i="0" lang="en-US" sz="3290" u="none" cap="none" strike="noStrike">
                <a:solidFill>
                  <a:srgbClr val="FFCB0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3290" u="none" cap="none" strike="noStrike">
                <a:solidFill>
                  <a:srgbClr val="C9A22B"/>
                </a:solidFill>
                <a:latin typeface="Poppins"/>
                <a:ea typeface="Poppins"/>
                <a:cs typeface="Poppins"/>
                <a:sym typeface="Poppins"/>
              </a:rPr>
              <a:t>1894 LEGACY IMPACT</a:t>
            </a:r>
            <a:r>
              <a:rPr b="0" i="0" lang="en-US" sz="3290" u="none" cap="none" strike="noStrike">
                <a:solidFill>
                  <a:srgbClr val="C9A22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3290" u="none" cap="none" strike="noStrike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CAMPAIGN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6"/>
          <p:cNvGrpSpPr/>
          <p:nvPr/>
        </p:nvGrpSpPr>
        <p:grpSpPr>
          <a:xfrm>
            <a:off x="2863309" y="319155"/>
            <a:ext cx="1030459" cy="727477"/>
            <a:chOff x="0" y="-28575"/>
            <a:chExt cx="903964" cy="638175"/>
          </a:xfrm>
        </p:grpSpPr>
        <p:sp>
          <p:nvSpPr>
            <p:cNvPr id="177" name="Google Shape;177;p6"/>
            <p:cNvSpPr/>
            <p:nvPr/>
          </p:nvSpPr>
          <p:spPr>
            <a:xfrm>
              <a:off x="0" y="0"/>
              <a:ext cx="903964" cy="609600"/>
            </a:xfrm>
            <a:custGeom>
              <a:rect b="b" l="l" r="r" t="t"/>
              <a:pathLst>
                <a:path extrusionOk="0" h="609600" w="903964">
                  <a:moveTo>
                    <a:pt x="203200" y="0"/>
                  </a:moveTo>
                  <a:lnTo>
                    <a:pt x="903964" y="0"/>
                  </a:lnTo>
                  <a:lnTo>
                    <a:pt x="70076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4AA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8" name="Google Shape;178;p6"/>
            <p:cNvSpPr txBox="1"/>
            <p:nvPr/>
          </p:nvSpPr>
          <p:spPr>
            <a:xfrm>
              <a:off x="101600" y="-28575"/>
              <a:ext cx="700764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6"/>
          <p:cNvGrpSpPr/>
          <p:nvPr/>
        </p:nvGrpSpPr>
        <p:grpSpPr>
          <a:xfrm>
            <a:off x="3029270" y="434973"/>
            <a:ext cx="1164072" cy="727477"/>
            <a:chOff x="0" y="-28575"/>
            <a:chExt cx="1021176" cy="638175"/>
          </a:xfrm>
        </p:grpSpPr>
        <p:sp>
          <p:nvSpPr>
            <p:cNvPr id="180" name="Google Shape;180;p6"/>
            <p:cNvSpPr/>
            <p:nvPr/>
          </p:nvSpPr>
          <p:spPr>
            <a:xfrm>
              <a:off x="0" y="0"/>
              <a:ext cx="1021176" cy="609600"/>
            </a:xfrm>
            <a:custGeom>
              <a:rect b="b" l="l" r="r" t="t"/>
              <a:pathLst>
                <a:path extrusionOk="0" h="609600" w="1021176">
                  <a:moveTo>
                    <a:pt x="203200" y="0"/>
                  </a:moveTo>
                  <a:lnTo>
                    <a:pt x="1021176" y="0"/>
                  </a:lnTo>
                  <a:lnTo>
                    <a:pt x="81797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1" name="Google Shape;181;p6"/>
            <p:cNvSpPr txBox="1"/>
            <p:nvPr/>
          </p:nvSpPr>
          <p:spPr>
            <a:xfrm>
              <a:off x="101600" y="-28575"/>
              <a:ext cx="817976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6"/>
          <p:cNvGrpSpPr/>
          <p:nvPr/>
        </p:nvGrpSpPr>
        <p:grpSpPr>
          <a:xfrm>
            <a:off x="-122946" y="-120991"/>
            <a:ext cx="18410946" cy="2466209"/>
            <a:chOff x="0" y="-38100"/>
            <a:chExt cx="4848973" cy="649537"/>
          </a:xfrm>
        </p:grpSpPr>
        <p:sp>
          <p:nvSpPr>
            <p:cNvPr id="183" name="Google Shape;183;p6"/>
            <p:cNvSpPr/>
            <p:nvPr/>
          </p:nvSpPr>
          <p:spPr>
            <a:xfrm>
              <a:off x="0" y="0"/>
              <a:ext cx="4848973" cy="611437"/>
            </a:xfrm>
            <a:custGeom>
              <a:rect b="b" l="l" r="r" t="t"/>
              <a:pathLst>
                <a:path extrusionOk="0" h="611437" w="4848973">
                  <a:moveTo>
                    <a:pt x="0" y="0"/>
                  </a:moveTo>
                  <a:lnTo>
                    <a:pt x="4848973" y="0"/>
                  </a:lnTo>
                  <a:lnTo>
                    <a:pt x="4848973" y="611437"/>
                  </a:lnTo>
                  <a:lnTo>
                    <a:pt x="0" y="611437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4" name="Google Shape;184;p6"/>
            <p:cNvSpPr txBox="1"/>
            <p:nvPr/>
          </p:nvSpPr>
          <p:spPr>
            <a:xfrm>
              <a:off x="0" y="-38100"/>
              <a:ext cx="4848973" cy="649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6"/>
          <p:cNvSpPr/>
          <p:nvPr/>
        </p:nvSpPr>
        <p:spPr>
          <a:xfrm>
            <a:off x="837410" y="497777"/>
            <a:ext cx="1397498" cy="1373333"/>
          </a:xfrm>
          <a:custGeom>
            <a:rect b="b" l="l" r="r" t="t"/>
            <a:pathLst>
              <a:path extrusionOk="0" h="1373333" w="1397498">
                <a:moveTo>
                  <a:pt x="0" y="0"/>
                </a:moveTo>
                <a:lnTo>
                  <a:pt x="1397498" y="0"/>
                </a:lnTo>
                <a:lnTo>
                  <a:pt x="1397498" y="1373333"/>
                </a:lnTo>
                <a:lnTo>
                  <a:pt x="0" y="1373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86" name="Google Shape;186;p6"/>
          <p:cNvSpPr txBox="1"/>
          <p:nvPr/>
        </p:nvSpPr>
        <p:spPr>
          <a:xfrm>
            <a:off x="476643" y="689877"/>
            <a:ext cx="17334713" cy="996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34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AUDITOR'S OPINION</a:t>
            </a:r>
            <a:endParaRPr/>
          </a:p>
        </p:txBody>
      </p:sp>
      <p:grpSp>
        <p:nvGrpSpPr>
          <p:cNvPr id="187" name="Google Shape;187;p6"/>
          <p:cNvGrpSpPr/>
          <p:nvPr/>
        </p:nvGrpSpPr>
        <p:grpSpPr>
          <a:xfrm>
            <a:off x="861918" y="2818940"/>
            <a:ext cx="7838505" cy="1818263"/>
            <a:chOff x="0" y="-43431"/>
            <a:chExt cx="10451340" cy="2424349"/>
          </a:xfrm>
        </p:grpSpPr>
        <p:grpSp>
          <p:nvGrpSpPr>
            <p:cNvPr id="188" name="Google Shape;18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189" name="Google Shape;18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0" name="Google Shape;19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" name="Google Shape;19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192" name="Google Shape;19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3" name="Google Shape;19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4" name="Google Shape;194;p6"/>
            <p:cNvSpPr txBox="1"/>
            <p:nvPr/>
          </p:nvSpPr>
          <p:spPr>
            <a:xfrm>
              <a:off x="1956558" y="112474"/>
              <a:ext cx="83496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OPINION TYPE</a:t>
              </a:r>
              <a:endParaRPr/>
            </a:p>
          </p:txBody>
        </p:sp>
        <p:sp>
          <p:nvSpPr>
            <p:cNvPr id="195" name="Google Shape;195;p6"/>
            <p:cNvSpPr txBox="1"/>
            <p:nvPr/>
          </p:nvSpPr>
          <p:spPr>
            <a:xfrm>
              <a:off x="1956558" y="1259720"/>
              <a:ext cx="8494782" cy="1121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UNQUALIFIED (CLEAN) OPINION — FY2025 and FY2024</a:t>
              </a:r>
              <a:endParaRPr/>
            </a:p>
          </p:txBody>
        </p:sp>
        <p:sp>
          <p:nvSpPr>
            <p:cNvPr id="196" name="Google Shape;19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1</a:t>
              </a:r>
              <a:endParaRPr/>
            </a:p>
          </p:txBody>
        </p:sp>
      </p:grpSp>
      <p:grpSp>
        <p:nvGrpSpPr>
          <p:cNvPr id="197" name="Google Shape;197;p6"/>
          <p:cNvGrpSpPr/>
          <p:nvPr/>
        </p:nvGrpSpPr>
        <p:grpSpPr>
          <a:xfrm>
            <a:off x="837410" y="5110926"/>
            <a:ext cx="7729662" cy="2708425"/>
            <a:chOff x="0" y="-43431"/>
            <a:chExt cx="10306216" cy="3611232"/>
          </a:xfrm>
        </p:grpSpPr>
        <p:grpSp>
          <p:nvGrpSpPr>
            <p:cNvPr id="198" name="Google Shape;19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199" name="Google Shape;19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0" name="Google Shape;20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" name="Google Shape;20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02" name="Google Shape;20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3" name="Google Shape;20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4" name="Google Shape;204;p6"/>
            <p:cNvSpPr txBox="1"/>
            <p:nvPr/>
          </p:nvSpPr>
          <p:spPr>
            <a:xfrm>
              <a:off x="1956558" y="154423"/>
              <a:ext cx="83496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NO GOING CONCERN</a:t>
              </a: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1956558" y="1288362"/>
              <a:ext cx="8349658" cy="2279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Financial statements present fairly in all material respects per US GAAP</a:t>
              </a:r>
              <a:endParaRPr/>
            </a:p>
          </p:txBody>
        </p:sp>
        <p:sp>
          <p:nvSpPr>
            <p:cNvPr id="206" name="Google Shape;20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2</a:t>
              </a:r>
              <a:endParaRPr/>
            </a:p>
          </p:txBody>
        </p:sp>
      </p:grpSp>
      <p:grpSp>
        <p:nvGrpSpPr>
          <p:cNvPr id="207" name="Google Shape;207;p6"/>
          <p:cNvGrpSpPr/>
          <p:nvPr/>
        </p:nvGrpSpPr>
        <p:grpSpPr>
          <a:xfrm>
            <a:off x="861918" y="7786777"/>
            <a:ext cx="7863012" cy="2252603"/>
            <a:chOff x="0" y="-43431"/>
            <a:chExt cx="10484016" cy="3003469"/>
          </a:xfrm>
        </p:grpSpPr>
        <p:grpSp>
          <p:nvGrpSpPr>
            <p:cNvPr id="208" name="Google Shape;20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09" name="Google Shape;20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0" name="Google Shape;21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" name="Google Shape;21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12" name="Google Shape;21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3" name="Google Shape;21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4" name="Google Shape;214;p6"/>
            <p:cNvSpPr txBox="1"/>
            <p:nvPr/>
          </p:nvSpPr>
          <p:spPr>
            <a:xfrm>
              <a:off x="1956558" y="112474"/>
              <a:ext cx="85274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TRACS CONFIRMED</a:t>
              </a:r>
              <a:endParaRPr/>
            </a:p>
          </p:txBody>
        </p:sp>
        <p:sp>
          <p:nvSpPr>
            <p:cNvPr id="215" name="Google Shape;215;p6"/>
            <p:cNvSpPr txBox="1"/>
            <p:nvPr/>
          </p:nvSpPr>
          <p:spPr>
            <a:xfrm>
              <a:off x="1956558" y="1259720"/>
              <a:ext cx="8494782" cy="170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TRACS Candidacy confirmed in audit notes — USDE recognition confirmed</a:t>
              </a:r>
              <a:endParaRPr/>
            </a:p>
          </p:txBody>
        </p:sp>
        <p:sp>
          <p:nvSpPr>
            <p:cNvPr id="216" name="Google Shape;21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3</a:t>
              </a:r>
              <a:endParaRPr/>
            </a:p>
          </p:txBody>
        </p:sp>
      </p:grpSp>
      <p:grpSp>
        <p:nvGrpSpPr>
          <p:cNvPr id="217" name="Google Shape;217;p6"/>
          <p:cNvGrpSpPr/>
          <p:nvPr/>
        </p:nvGrpSpPr>
        <p:grpSpPr>
          <a:xfrm>
            <a:off x="9420795" y="2818940"/>
            <a:ext cx="7838505" cy="2283609"/>
            <a:chOff x="0" y="-43431"/>
            <a:chExt cx="10451340" cy="3044811"/>
          </a:xfrm>
        </p:grpSpPr>
        <p:grpSp>
          <p:nvGrpSpPr>
            <p:cNvPr id="218" name="Google Shape;21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19" name="Google Shape;21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0" name="Google Shape;22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" name="Google Shape;22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22" name="Google Shape;22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3" name="Google Shape;22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4" name="Google Shape;224;p6"/>
            <p:cNvSpPr txBox="1"/>
            <p:nvPr/>
          </p:nvSpPr>
          <p:spPr>
            <a:xfrm>
              <a:off x="1956558" y="154423"/>
              <a:ext cx="8349658" cy="904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TITLE IV</a:t>
              </a:r>
              <a:endParaRPr/>
            </a:p>
          </p:txBody>
        </p:sp>
        <p:sp>
          <p:nvSpPr>
            <p:cNvPr id="225" name="Google Shape;225;p6"/>
            <p:cNvSpPr txBox="1"/>
            <p:nvPr/>
          </p:nvSpPr>
          <p:spPr>
            <a:xfrm>
              <a:off x="1956558" y="1301062"/>
              <a:ext cx="8494782" cy="170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PPA submitted March 20, 2026 — Pending USDE approval anticipated Spring 2027</a:t>
              </a:r>
              <a:endParaRPr/>
            </a:p>
          </p:txBody>
        </p:sp>
        <p:sp>
          <p:nvSpPr>
            <p:cNvPr id="226" name="Google Shape;226;p6"/>
            <p:cNvSpPr txBox="1"/>
            <p:nvPr/>
          </p:nvSpPr>
          <p:spPr>
            <a:xfrm>
              <a:off x="495054" y="284245"/>
              <a:ext cx="981734" cy="741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4</a:t>
              </a:r>
              <a:endParaRPr/>
            </a:p>
          </p:txBody>
        </p:sp>
      </p:grpSp>
      <p:grpSp>
        <p:nvGrpSpPr>
          <p:cNvPr id="227" name="Google Shape;227;p6"/>
          <p:cNvGrpSpPr/>
          <p:nvPr/>
        </p:nvGrpSpPr>
        <p:grpSpPr>
          <a:xfrm>
            <a:off x="9420795" y="5110926"/>
            <a:ext cx="7838505" cy="1856889"/>
            <a:chOff x="0" y="-43431"/>
            <a:chExt cx="10451340" cy="2475851"/>
          </a:xfrm>
        </p:grpSpPr>
        <p:grpSp>
          <p:nvGrpSpPr>
            <p:cNvPr id="228" name="Google Shape;22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0" name="Google Shape;23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1" name="Google Shape;23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32" name="Google Shape;23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3" name="Google Shape;23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4" name="Google Shape;234;p6"/>
            <p:cNvSpPr txBox="1"/>
            <p:nvPr/>
          </p:nvSpPr>
          <p:spPr>
            <a:xfrm>
              <a:off x="1956558" y="154423"/>
              <a:ext cx="8349658" cy="9097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AUDIT PERIOD</a:t>
              </a:r>
              <a:endParaRPr/>
            </a:p>
          </p:txBody>
        </p:sp>
        <p:sp>
          <p:nvSpPr>
            <p:cNvPr id="235" name="Google Shape;235;p6"/>
            <p:cNvSpPr txBox="1"/>
            <p:nvPr/>
          </p:nvSpPr>
          <p:spPr>
            <a:xfrm>
              <a:off x="1956558" y="1301062"/>
              <a:ext cx="8494782" cy="11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July 1, 2024 – June 30, 2025  ·  Conyers, Georgia</a:t>
              </a:r>
              <a:endParaRPr/>
            </a:p>
          </p:txBody>
        </p:sp>
        <p:sp>
          <p:nvSpPr>
            <p:cNvPr id="236" name="Google Shape;236;p6"/>
            <p:cNvSpPr txBox="1"/>
            <p:nvPr/>
          </p:nvSpPr>
          <p:spPr>
            <a:xfrm>
              <a:off x="495054" y="284245"/>
              <a:ext cx="981734" cy="7411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5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8"/>
          <p:cNvSpPr/>
          <p:nvPr/>
        </p:nvSpPr>
        <p:spPr>
          <a:xfrm>
            <a:off x="7494765" y="432012"/>
            <a:ext cx="10698471" cy="9748322"/>
          </a:xfrm>
          <a:custGeom>
            <a:rect b="b" l="l" r="r" t="t"/>
            <a:pathLst>
              <a:path extrusionOk="0" h="9748322" w="10698471">
                <a:moveTo>
                  <a:pt x="0" y="0"/>
                </a:moveTo>
                <a:lnTo>
                  <a:pt x="10698471" y="0"/>
                </a:lnTo>
                <a:lnTo>
                  <a:pt x="10698471" y="9748321"/>
                </a:lnTo>
                <a:lnTo>
                  <a:pt x="0" y="9748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1000"/>
            </a:blip>
            <a:stretch>
              <a:fillRect b="-13312" l="0" r="-324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 txBox="1"/>
          <p:nvPr/>
        </p:nvSpPr>
        <p:spPr>
          <a:xfrm>
            <a:off x="2674959" y="1773589"/>
            <a:ext cx="15613041" cy="1056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STATEMENT OF FINANCIAL POSITION</a:t>
            </a:r>
            <a:endParaRPr/>
          </a:p>
        </p:txBody>
      </p:sp>
      <p:grpSp>
        <p:nvGrpSpPr>
          <p:cNvPr id="348" name="Google Shape;348;p8"/>
          <p:cNvGrpSpPr/>
          <p:nvPr/>
        </p:nvGrpSpPr>
        <p:grpSpPr>
          <a:xfrm>
            <a:off x="-31986" y="-144661"/>
            <a:ext cx="18351972" cy="600374"/>
            <a:chOff x="0" y="-38100"/>
            <a:chExt cx="4833441" cy="158123"/>
          </a:xfrm>
        </p:grpSpPr>
        <p:sp>
          <p:nvSpPr>
            <p:cNvPr id="349" name="Google Shape;349;p8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0" name="Google Shape;350;p8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1" name="Google Shape;351;p8"/>
          <p:cNvGrpSpPr/>
          <p:nvPr/>
        </p:nvGrpSpPr>
        <p:grpSpPr>
          <a:xfrm>
            <a:off x="-31986" y="9914482"/>
            <a:ext cx="18351972" cy="600374"/>
            <a:chOff x="0" y="-38100"/>
            <a:chExt cx="4833441" cy="158123"/>
          </a:xfrm>
        </p:grpSpPr>
        <p:sp>
          <p:nvSpPr>
            <p:cNvPr id="352" name="Google Shape;352;p8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3" name="Google Shape;353;p8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4" name="Google Shape;354;p8"/>
          <p:cNvSpPr/>
          <p:nvPr/>
        </p:nvSpPr>
        <p:spPr>
          <a:xfrm>
            <a:off x="623133" y="888731"/>
            <a:ext cx="2083812" cy="2217674"/>
          </a:xfrm>
          <a:custGeom>
            <a:rect b="b" l="l" r="r" t="t"/>
            <a:pathLst>
              <a:path extrusionOk="0" h="2217674" w="2083812">
                <a:moveTo>
                  <a:pt x="0" y="0"/>
                </a:moveTo>
                <a:lnTo>
                  <a:pt x="2083812" y="0"/>
                </a:lnTo>
                <a:lnTo>
                  <a:pt x="2083812" y="2217674"/>
                </a:lnTo>
                <a:lnTo>
                  <a:pt x="0" y="2217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cxnSp>
        <p:nvCxnSpPr>
          <p:cNvPr id="355" name="Google Shape;355;p8"/>
          <p:cNvCxnSpPr/>
          <p:nvPr/>
        </p:nvCxnSpPr>
        <p:spPr>
          <a:xfrm rot="10800000">
            <a:off x="2706945" y="2829647"/>
            <a:ext cx="7848730" cy="0"/>
          </a:xfrm>
          <a:prstGeom prst="straightConnector1">
            <a:avLst/>
          </a:prstGeom>
          <a:noFill/>
          <a:ln cap="flat" cmpd="sng" w="38100">
            <a:solidFill>
              <a:srgbClr val="C9A2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p8"/>
          <p:cNvSpPr txBox="1"/>
          <p:nvPr/>
        </p:nvSpPr>
        <p:spPr>
          <a:xfrm>
            <a:off x="6837963" y="5829300"/>
            <a:ext cx="2534637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1524000" y="3164824"/>
            <a:ext cx="1467418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Total Assets: $1,890,851  (up from $1,728,487 in FY2024)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Total Net Assets: $866,041  (down from $967,667 — FY2025 deficit of $101,626)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Cash &amp; Equivalents: $127,330  (down from $341,566 — see cash bridge)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Line of Credit: $866,645 at 8.5%  (new September 2024 — Pinnacle Financial Partners)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Property &amp; Equipment (Net): $1,334,204  (up $322K — Talbot Hall improvements)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9"/>
          <p:cNvSpPr/>
          <p:nvPr/>
        </p:nvSpPr>
        <p:spPr>
          <a:xfrm>
            <a:off x="7494765" y="432012"/>
            <a:ext cx="10698471" cy="9748322"/>
          </a:xfrm>
          <a:custGeom>
            <a:rect b="b" l="l" r="r" t="t"/>
            <a:pathLst>
              <a:path extrusionOk="0" h="9748322" w="10698471">
                <a:moveTo>
                  <a:pt x="0" y="0"/>
                </a:moveTo>
                <a:lnTo>
                  <a:pt x="10698471" y="0"/>
                </a:lnTo>
                <a:lnTo>
                  <a:pt x="10698471" y="9748321"/>
                </a:lnTo>
                <a:lnTo>
                  <a:pt x="0" y="9748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1000"/>
            </a:blip>
            <a:stretch>
              <a:fillRect b="-13312" l="0" r="-324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 txBox="1"/>
          <p:nvPr/>
        </p:nvSpPr>
        <p:spPr>
          <a:xfrm>
            <a:off x="2674959" y="1773589"/>
            <a:ext cx="15613041" cy="1056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DEPRECIATION BRIDGE</a:t>
            </a:r>
            <a:endParaRPr/>
          </a:p>
        </p:txBody>
      </p:sp>
      <p:grpSp>
        <p:nvGrpSpPr>
          <p:cNvPr id="364" name="Google Shape;364;p9"/>
          <p:cNvGrpSpPr/>
          <p:nvPr/>
        </p:nvGrpSpPr>
        <p:grpSpPr>
          <a:xfrm>
            <a:off x="-31986" y="-144661"/>
            <a:ext cx="18351972" cy="600374"/>
            <a:chOff x="0" y="-38100"/>
            <a:chExt cx="4833441" cy="158123"/>
          </a:xfrm>
        </p:grpSpPr>
        <p:sp>
          <p:nvSpPr>
            <p:cNvPr id="365" name="Google Shape;365;p9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6" name="Google Shape;366;p9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7" name="Google Shape;367;p9"/>
          <p:cNvGrpSpPr/>
          <p:nvPr/>
        </p:nvGrpSpPr>
        <p:grpSpPr>
          <a:xfrm>
            <a:off x="-31986" y="9914482"/>
            <a:ext cx="18351972" cy="600374"/>
            <a:chOff x="0" y="-38100"/>
            <a:chExt cx="4833441" cy="158123"/>
          </a:xfrm>
        </p:grpSpPr>
        <p:sp>
          <p:nvSpPr>
            <p:cNvPr id="368" name="Google Shape;368;p9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9" name="Google Shape;369;p9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0" name="Google Shape;370;p9"/>
          <p:cNvSpPr/>
          <p:nvPr/>
        </p:nvSpPr>
        <p:spPr>
          <a:xfrm>
            <a:off x="623133" y="888731"/>
            <a:ext cx="2083812" cy="2217674"/>
          </a:xfrm>
          <a:custGeom>
            <a:rect b="b" l="l" r="r" t="t"/>
            <a:pathLst>
              <a:path extrusionOk="0" h="2217674" w="2083812">
                <a:moveTo>
                  <a:pt x="0" y="0"/>
                </a:moveTo>
                <a:lnTo>
                  <a:pt x="2083812" y="0"/>
                </a:lnTo>
                <a:lnTo>
                  <a:pt x="2083812" y="2217674"/>
                </a:lnTo>
                <a:lnTo>
                  <a:pt x="0" y="2217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cxnSp>
        <p:nvCxnSpPr>
          <p:cNvPr id="371" name="Google Shape;371;p9"/>
          <p:cNvCxnSpPr/>
          <p:nvPr/>
        </p:nvCxnSpPr>
        <p:spPr>
          <a:xfrm rot="10800000">
            <a:off x="2706945" y="2829647"/>
            <a:ext cx="7848730" cy="0"/>
          </a:xfrm>
          <a:prstGeom prst="straightConnector1">
            <a:avLst/>
          </a:prstGeom>
          <a:noFill/>
          <a:ln cap="flat" cmpd="sng" w="38100">
            <a:solidFill>
              <a:srgbClr val="C9A2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" name="Google Shape;372;p9"/>
          <p:cNvSpPr txBox="1"/>
          <p:nvPr/>
        </p:nvSpPr>
        <p:spPr>
          <a:xfrm>
            <a:off x="6837963" y="5829300"/>
            <a:ext cx="2534637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1524000" y="3164824"/>
            <a:ext cx="1467418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Aaron's Principle: Depreciation is non-cash. True result is positive.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Reported Net Deficit:  ($101,626)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+ Depreciation Add-Back (Non-Cash):  + $115,617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= Cash-Adjusted Operating Result:  + $13,991  ✓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Cash decrease $214,236 = Spelman timing ($621K) + Capex ($438K) + LOC proceeds ($867K)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8"/>
          <p:cNvSpPr/>
          <p:nvPr/>
        </p:nvSpPr>
        <p:spPr>
          <a:xfrm>
            <a:off x="7494765" y="432012"/>
            <a:ext cx="10698471" cy="9748322"/>
          </a:xfrm>
          <a:custGeom>
            <a:rect b="b" l="l" r="r" t="t"/>
            <a:pathLst>
              <a:path extrusionOk="0" h="9748322" w="10698471">
                <a:moveTo>
                  <a:pt x="0" y="0"/>
                </a:moveTo>
                <a:lnTo>
                  <a:pt x="10698471" y="0"/>
                </a:lnTo>
                <a:lnTo>
                  <a:pt x="10698471" y="9748321"/>
                </a:lnTo>
                <a:lnTo>
                  <a:pt x="0" y="9748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1000"/>
            </a:blip>
            <a:stretch>
              <a:fillRect b="-13312" l="0" r="-324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 txBox="1"/>
          <p:nvPr/>
        </p:nvSpPr>
        <p:spPr>
          <a:xfrm>
            <a:off x="2674959" y="1773589"/>
            <a:ext cx="15613041" cy="1056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FUNCTIONAL EXPENSES — FY2025</a:t>
            </a:r>
            <a:endParaRPr/>
          </a:p>
        </p:txBody>
      </p:sp>
      <p:grpSp>
        <p:nvGrpSpPr>
          <p:cNvPr id="348" name="Google Shape;348;p8"/>
          <p:cNvGrpSpPr/>
          <p:nvPr/>
        </p:nvGrpSpPr>
        <p:grpSpPr>
          <a:xfrm>
            <a:off x="-31986" y="-144661"/>
            <a:ext cx="18351972" cy="600374"/>
            <a:chOff x="0" y="-38100"/>
            <a:chExt cx="4833441" cy="158123"/>
          </a:xfrm>
        </p:grpSpPr>
        <p:sp>
          <p:nvSpPr>
            <p:cNvPr id="349" name="Google Shape;349;p8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0" name="Google Shape;350;p8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1" name="Google Shape;351;p8"/>
          <p:cNvGrpSpPr/>
          <p:nvPr/>
        </p:nvGrpSpPr>
        <p:grpSpPr>
          <a:xfrm>
            <a:off x="-31986" y="9914482"/>
            <a:ext cx="18351972" cy="600374"/>
            <a:chOff x="0" y="-38100"/>
            <a:chExt cx="4833441" cy="158123"/>
          </a:xfrm>
        </p:grpSpPr>
        <p:sp>
          <p:nvSpPr>
            <p:cNvPr id="352" name="Google Shape;352;p8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3" name="Google Shape;353;p8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4" name="Google Shape;354;p8"/>
          <p:cNvSpPr/>
          <p:nvPr/>
        </p:nvSpPr>
        <p:spPr>
          <a:xfrm>
            <a:off x="623133" y="888731"/>
            <a:ext cx="2083812" cy="2217674"/>
          </a:xfrm>
          <a:custGeom>
            <a:rect b="b" l="l" r="r" t="t"/>
            <a:pathLst>
              <a:path extrusionOk="0" h="2217674" w="2083812">
                <a:moveTo>
                  <a:pt x="0" y="0"/>
                </a:moveTo>
                <a:lnTo>
                  <a:pt x="2083812" y="0"/>
                </a:lnTo>
                <a:lnTo>
                  <a:pt x="2083812" y="2217674"/>
                </a:lnTo>
                <a:lnTo>
                  <a:pt x="0" y="2217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cxnSp>
        <p:nvCxnSpPr>
          <p:cNvPr id="355" name="Google Shape;355;p8"/>
          <p:cNvCxnSpPr/>
          <p:nvPr/>
        </p:nvCxnSpPr>
        <p:spPr>
          <a:xfrm rot="10800000">
            <a:off x="2706945" y="2829647"/>
            <a:ext cx="7848730" cy="0"/>
          </a:xfrm>
          <a:prstGeom prst="straightConnector1">
            <a:avLst/>
          </a:prstGeom>
          <a:noFill/>
          <a:ln cap="flat" cmpd="sng" w="38100">
            <a:solidFill>
              <a:srgbClr val="C9A2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p8"/>
          <p:cNvSpPr txBox="1"/>
          <p:nvPr/>
        </p:nvSpPr>
        <p:spPr>
          <a:xfrm>
            <a:off x="6837963" y="5829300"/>
            <a:ext cx="2534637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1524000" y="3164824"/>
            <a:ext cx="1467418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Total Expenses FY2025: $2,075,549  (up 47% — driven by capital investment)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Salaries and Wages: $921,279  (44% of total expenses)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Depreciation (NON-CASH): $115,617  — adds back to produce cash-positive result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Accreditation Fees: $112,143  — full institutional commitment demonstrated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Interest Expense: $41,940  — LOC servicing at 8.5%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6"/>
          <p:cNvGrpSpPr/>
          <p:nvPr/>
        </p:nvGrpSpPr>
        <p:grpSpPr>
          <a:xfrm>
            <a:off x="2863309" y="319155"/>
            <a:ext cx="1030459" cy="727477"/>
            <a:chOff x="0" y="-28575"/>
            <a:chExt cx="903964" cy="638175"/>
          </a:xfrm>
        </p:grpSpPr>
        <p:sp>
          <p:nvSpPr>
            <p:cNvPr id="177" name="Google Shape;177;p6"/>
            <p:cNvSpPr/>
            <p:nvPr/>
          </p:nvSpPr>
          <p:spPr>
            <a:xfrm>
              <a:off x="0" y="0"/>
              <a:ext cx="903964" cy="609600"/>
            </a:xfrm>
            <a:custGeom>
              <a:rect b="b" l="l" r="r" t="t"/>
              <a:pathLst>
                <a:path extrusionOk="0" h="609600" w="903964">
                  <a:moveTo>
                    <a:pt x="203200" y="0"/>
                  </a:moveTo>
                  <a:lnTo>
                    <a:pt x="903964" y="0"/>
                  </a:lnTo>
                  <a:lnTo>
                    <a:pt x="70076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4AA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8" name="Google Shape;178;p6"/>
            <p:cNvSpPr txBox="1"/>
            <p:nvPr/>
          </p:nvSpPr>
          <p:spPr>
            <a:xfrm>
              <a:off x="101600" y="-28575"/>
              <a:ext cx="700764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6"/>
          <p:cNvGrpSpPr/>
          <p:nvPr/>
        </p:nvGrpSpPr>
        <p:grpSpPr>
          <a:xfrm>
            <a:off x="3029270" y="434973"/>
            <a:ext cx="1164072" cy="727477"/>
            <a:chOff x="0" y="-28575"/>
            <a:chExt cx="1021176" cy="638175"/>
          </a:xfrm>
        </p:grpSpPr>
        <p:sp>
          <p:nvSpPr>
            <p:cNvPr id="180" name="Google Shape;180;p6"/>
            <p:cNvSpPr/>
            <p:nvPr/>
          </p:nvSpPr>
          <p:spPr>
            <a:xfrm>
              <a:off x="0" y="0"/>
              <a:ext cx="1021176" cy="609600"/>
            </a:xfrm>
            <a:custGeom>
              <a:rect b="b" l="l" r="r" t="t"/>
              <a:pathLst>
                <a:path extrusionOk="0" h="609600" w="1021176">
                  <a:moveTo>
                    <a:pt x="203200" y="0"/>
                  </a:moveTo>
                  <a:lnTo>
                    <a:pt x="1021176" y="0"/>
                  </a:lnTo>
                  <a:lnTo>
                    <a:pt x="81797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1" name="Google Shape;181;p6"/>
            <p:cNvSpPr txBox="1"/>
            <p:nvPr/>
          </p:nvSpPr>
          <p:spPr>
            <a:xfrm>
              <a:off x="101600" y="-28575"/>
              <a:ext cx="817976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6"/>
          <p:cNvGrpSpPr/>
          <p:nvPr/>
        </p:nvGrpSpPr>
        <p:grpSpPr>
          <a:xfrm>
            <a:off x="-122946" y="-120991"/>
            <a:ext cx="18410946" cy="2466209"/>
            <a:chOff x="0" y="-38100"/>
            <a:chExt cx="4848973" cy="649537"/>
          </a:xfrm>
        </p:grpSpPr>
        <p:sp>
          <p:nvSpPr>
            <p:cNvPr id="183" name="Google Shape;183;p6"/>
            <p:cNvSpPr/>
            <p:nvPr/>
          </p:nvSpPr>
          <p:spPr>
            <a:xfrm>
              <a:off x="0" y="0"/>
              <a:ext cx="4848973" cy="611437"/>
            </a:xfrm>
            <a:custGeom>
              <a:rect b="b" l="l" r="r" t="t"/>
              <a:pathLst>
                <a:path extrusionOk="0" h="611437" w="4848973">
                  <a:moveTo>
                    <a:pt x="0" y="0"/>
                  </a:moveTo>
                  <a:lnTo>
                    <a:pt x="4848973" y="0"/>
                  </a:lnTo>
                  <a:lnTo>
                    <a:pt x="4848973" y="611437"/>
                  </a:lnTo>
                  <a:lnTo>
                    <a:pt x="0" y="611437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4" name="Google Shape;184;p6"/>
            <p:cNvSpPr txBox="1"/>
            <p:nvPr/>
          </p:nvSpPr>
          <p:spPr>
            <a:xfrm>
              <a:off x="0" y="-38100"/>
              <a:ext cx="4848973" cy="649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6"/>
          <p:cNvSpPr/>
          <p:nvPr/>
        </p:nvSpPr>
        <p:spPr>
          <a:xfrm>
            <a:off x="837410" y="497777"/>
            <a:ext cx="1397498" cy="1373333"/>
          </a:xfrm>
          <a:custGeom>
            <a:rect b="b" l="l" r="r" t="t"/>
            <a:pathLst>
              <a:path extrusionOk="0" h="1373333" w="1397498">
                <a:moveTo>
                  <a:pt x="0" y="0"/>
                </a:moveTo>
                <a:lnTo>
                  <a:pt x="1397498" y="0"/>
                </a:lnTo>
                <a:lnTo>
                  <a:pt x="1397498" y="1373333"/>
                </a:lnTo>
                <a:lnTo>
                  <a:pt x="0" y="1373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86" name="Google Shape;186;p6"/>
          <p:cNvSpPr txBox="1"/>
          <p:nvPr/>
        </p:nvSpPr>
        <p:spPr>
          <a:xfrm>
            <a:off x="476643" y="689877"/>
            <a:ext cx="17334713" cy="996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34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SACSCOC CONTEXT</a:t>
            </a:r>
            <a:endParaRPr/>
          </a:p>
        </p:txBody>
      </p:sp>
      <p:grpSp>
        <p:nvGrpSpPr>
          <p:cNvPr id="187" name="Google Shape;187;p6"/>
          <p:cNvGrpSpPr/>
          <p:nvPr/>
        </p:nvGrpSpPr>
        <p:grpSpPr>
          <a:xfrm>
            <a:off x="861918" y="2818940"/>
            <a:ext cx="7838505" cy="1818263"/>
            <a:chOff x="0" y="-43431"/>
            <a:chExt cx="10451340" cy="2424349"/>
          </a:xfrm>
        </p:grpSpPr>
        <p:grpSp>
          <p:nvGrpSpPr>
            <p:cNvPr id="188" name="Google Shape;18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189" name="Google Shape;18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0" name="Google Shape;19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" name="Google Shape;19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192" name="Google Shape;19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3" name="Google Shape;19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4" name="Google Shape;194;p6"/>
            <p:cNvSpPr txBox="1"/>
            <p:nvPr/>
          </p:nvSpPr>
          <p:spPr>
            <a:xfrm>
              <a:off x="1956558" y="112474"/>
              <a:ext cx="83496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COMPOSITE SCORE</a:t>
              </a:r>
              <a:endParaRPr/>
            </a:p>
          </p:txBody>
        </p:sp>
        <p:sp>
          <p:nvSpPr>
            <p:cNvPr id="195" name="Google Shape;195;p6"/>
            <p:cNvSpPr txBox="1"/>
            <p:nvPr/>
          </p:nvSpPr>
          <p:spPr>
            <a:xfrm>
              <a:off x="1956558" y="1259720"/>
              <a:ext cx="8494782" cy="1121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FY2022: 0.9  →  FY2023: 1.4  →  FY2024: 1.7 (peak)  →  FY2025: 0.6</a:t>
              </a:r>
              <a:endParaRPr/>
            </a:p>
          </p:txBody>
        </p:sp>
        <p:sp>
          <p:nvSpPr>
            <p:cNvPr id="196" name="Google Shape;19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1</a:t>
              </a:r>
              <a:endParaRPr/>
            </a:p>
          </p:txBody>
        </p:sp>
      </p:grpSp>
      <p:grpSp>
        <p:nvGrpSpPr>
          <p:cNvPr id="197" name="Google Shape;197;p6"/>
          <p:cNvGrpSpPr/>
          <p:nvPr/>
        </p:nvGrpSpPr>
        <p:grpSpPr>
          <a:xfrm>
            <a:off x="837410" y="5110926"/>
            <a:ext cx="7729662" cy="2708425"/>
            <a:chOff x="0" y="-43431"/>
            <a:chExt cx="10306216" cy="3611232"/>
          </a:xfrm>
        </p:grpSpPr>
        <p:grpSp>
          <p:nvGrpSpPr>
            <p:cNvPr id="198" name="Google Shape;19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199" name="Google Shape;19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0" name="Google Shape;20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" name="Google Shape;20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02" name="Google Shape;20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3" name="Google Shape;20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4" name="Google Shape;204;p6"/>
            <p:cNvSpPr txBox="1"/>
            <p:nvPr/>
          </p:nvSpPr>
          <p:spPr>
            <a:xfrm>
              <a:off x="1956558" y="154423"/>
              <a:ext cx="83496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AUDIT SUPPORTS PETITION</a:t>
              </a: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1956558" y="1288362"/>
              <a:ext cx="8349658" cy="2279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Clean audit opinion provides the strongest evidence for SACSCOC exception petition</a:t>
              </a:r>
              <a:endParaRPr/>
            </a:p>
          </p:txBody>
        </p:sp>
        <p:sp>
          <p:nvSpPr>
            <p:cNvPr id="206" name="Google Shape;20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2</a:t>
              </a:r>
              <a:endParaRPr/>
            </a:p>
          </p:txBody>
        </p:sp>
      </p:grpSp>
      <p:grpSp>
        <p:nvGrpSpPr>
          <p:cNvPr id="207" name="Google Shape;207;p6"/>
          <p:cNvGrpSpPr/>
          <p:nvPr/>
        </p:nvGrpSpPr>
        <p:grpSpPr>
          <a:xfrm>
            <a:off x="861918" y="7786777"/>
            <a:ext cx="7863012" cy="2252603"/>
            <a:chOff x="0" y="-43431"/>
            <a:chExt cx="10484016" cy="3003469"/>
          </a:xfrm>
        </p:grpSpPr>
        <p:grpSp>
          <p:nvGrpSpPr>
            <p:cNvPr id="208" name="Google Shape;20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09" name="Google Shape;20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0" name="Google Shape;21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" name="Google Shape;21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12" name="Google Shape;21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3" name="Google Shape;21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4" name="Google Shape;214;p6"/>
            <p:cNvSpPr txBox="1"/>
            <p:nvPr/>
          </p:nvSpPr>
          <p:spPr>
            <a:xfrm>
              <a:off x="1956558" y="112474"/>
              <a:ext cx="85274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PETITION FILED</a:t>
              </a:r>
              <a:endParaRPr/>
            </a:p>
          </p:txBody>
        </p:sp>
        <p:sp>
          <p:nvSpPr>
            <p:cNvPr id="215" name="Google Shape;215;p6"/>
            <p:cNvSpPr txBox="1"/>
            <p:nvPr/>
          </p:nvSpPr>
          <p:spPr>
            <a:xfrm>
              <a:off x="1956558" y="1259720"/>
              <a:ext cx="8494782" cy="170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Exception petition submitted March 31, 2026 — Dr. Stephen L. Pruitt, SACSCOC</a:t>
              </a:r>
              <a:endParaRPr/>
            </a:p>
          </p:txBody>
        </p:sp>
        <p:sp>
          <p:nvSpPr>
            <p:cNvPr id="216" name="Google Shape;21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3</a:t>
              </a:r>
              <a:endParaRPr/>
            </a:p>
          </p:txBody>
        </p:sp>
      </p:grpSp>
      <p:grpSp>
        <p:nvGrpSpPr>
          <p:cNvPr id="217" name="Google Shape;217;p6"/>
          <p:cNvGrpSpPr/>
          <p:nvPr/>
        </p:nvGrpSpPr>
        <p:grpSpPr>
          <a:xfrm>
            <a:off x="9420795" y="2818940"/>
            <a:ext cx="7838505" cy="2283609"/>
            <a:chOff x="0" y="-43431"/>
            <a:chExt cx="10451340" cy="3044811"/>
          </a:xfrm>
        </p:grpSpPr>
        <p:grpSp>
          <p:nvGrpSpPr>
            <p:cNvPr id="218" name="Google Shape;21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19" name="Google Shape;21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0" name="Google Shape;22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" name="Google Shape;22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22" name="Google Shape;22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3" name="Google Shape;22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4" name="Google Shape;224;p6"/>
            <p:cNvSpPr txBox="1"/>
            <p:nvPr/>
          </p:nvSpPr>
          <p:spPr>
            <a:xfrm>
              <a:off x="1956558" y="154423"/>
              <a:ext cx="8349658" cy="904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FY2026 ON TRACK</a:t>
              </a:r>
              <a:endParaRPr/>
            </a:p>
          </p:txBody>
        </p:sp>
        <p:sp>
          <p:nvSpPr>
            <p:cNvPr id="225" name="Google Shape;225;p6"/>
            <p:cNvSpPr txBox="1"/>
            <p:nvPr/>
          </p:nvSpPr>
          <p:spPr>
            <a:xfrm>
              <a:off x="1956558" y="1301062"/>
              <a:ext cx="8494782" cy="170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$287K net income YTD through February 2026. Corrective actions executing.</a:t>
              </a:r>
              <a:endParaRPr/>
            </a:p>
          </p:txBody>
        </p:sp>
        <p:sp>
          <p:nvSpPr>
            <p:cNvPr id="226" name="Google Shape;226;p6"/>
            <p:cNvSpPr txBox="1"/>
            <p:nvPr/>
          </p:nvSpPr>
          <p:spPr>
            <a:xfrm>
              <a:off x="495054" y="284245"/>
              <a:ext cx="981734" cy="741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4</a:t>
              </a:r>
              <a:endParaRPr/>
            </a:p>
          </p:txBody>
        </p:sp>
      </p:grpSp>
      <p:grpSp>
        <p:nvGrpSpPr>
          <p:cNvPr id="227" name="Google Shape;227;p6"/>
          <p:cNvGrpSpPr/>
          <p:nvPr/>
        </p:nvGrpSpPr>
        <p:grpSpPr>
          <a:xfrm>
            <a:off x="9420795" y="5110926"/>
            <a:ext cx="7838505" cy="1856889"/>
            <a:chOff x="0" y="-43431"/>
            <a:chExt cx="10451340" cy="2475851"/>
          </a:xfrm>
        </p:grpSpPr>
        <p:grpSp>
          <p:nvGrpSpPr>
            <p:cNvPr id="228" name="Google Shape;22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0" name="Google Shape;23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1" name="Google Shape;23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32" name="Google Shape;23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3" name="Google Shape;23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4" name="Google Shape;234;p6"/>
            <p:cNvSpPr txBox="1"/>
            <p:nvPr/>
          </p:nvSpPr>
          <p:spPr>
            <a:xfrm>
              <a:off x="1956558" y="154423"/>
              <a:ext cx="8349658" cy="9097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TITLE IV UPSIDE</a:t>
              </a:r>
              <a:endParaRPr/>
            </a:p>
          </p:txBody>
        </p:sp>
        <p:sp>
          <p:nvSpPr>
            <p:cNvPr id="235" name="Google Shape;235;p6"/>
            <p:cNvSpPr txBox="1"/>
            <p:nvPr/>
          </p:nvSpPr>
          <p:spPr>
            <a:xfrm>
              <a:off x="1956558" y="1301062"/>
              <a:ext cx="8494782" cy="11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Revenue expansion not yet reflected in FY2025 results — PPA submitted March 2026</a:t>
              </a:r>
              <a:endParaRPr/>
            </a:p>
          </p:txBody>
        </p:sp>
        <p:sp>
          <p:nvSpPr>
            <p:cNvPr id="236" name="Google Shape;236;p6"/>
            <p:cNvSpPr txBox="1"/>
            <p:nvPr/>
          </p:nvSpPr>
          <p:spPr>
            <a:xfrm>
              <a:off x="495054" y="284245"/>
              <a:ext cx="981734" cy="7411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5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12"/>
          <p:cNvPicPr preferRelativeResize="0"/>
          <p:nvPr/>
        </p:nvPicPr>
        <p:blipFill rotWithShape="1">
          <a:blip r:embed="rId4">
            <a:alphaModFix/>
          </a:blip>
          <a:srcRect b="32979" l="0" r="0" t="32979"/>
          <a:stretch/>
        </p:blipFill>
        <p:spPr>
          <a:xfrm>
            <a:off x="0" y="0"/>
            <a:ext cx="18288000" cy="46690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0" name="Google Shape;410;p12"/>
          <p:cNvGrpSpPr/>
          <p:nvPr/>
        </p:nvGrpSpPr>
        <p:grpSpPr>
          <a:xfrm>
            <a:off x="3022128" y="3367065"/>
            <a:ext cx="12243743" cy="1776435"/>
            <a:chOff x="0" y="-38100"/>
            <a:chExt cx="3224690" cy="467868"/>
          </a:xfrm>
        </p:grpSpPr>
        <p:sp>
          <p:nvSpPr>
            <p:cNvPr id="411" name="Google Shape;411;p12"/>
            <p:cNvSpPr/>
            <p:nvPr/>
          </p:nvSpPr>
          <p:spPr>
            <a:xfrm>
              <a:off x="0" y="0"/>
              <a:ext cx="3224690" cy="429768"/>
            </a:xfrm>
            <a:custGeom>
              <a:rect b="b" l="l" r="r" t="t"/>
              <a:pathLst>
                <a:path extrusionOk="0" h="429768" w="3224690">
                  <a:moveTo>
                    <a:pt x="203200" y="0"/>
                  </a:moveTo>
                  <a:lnTo>
                    <a:pt x="3021490" y="0"/>
                  </a:lnTo>
                  <a:lnTo>
                    <a:pt x="3224690" y="429768"/>
                  </a:lnTo>
                  <a:lnTo>
                    <a:pt x="0" y="42976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2" name="Google Shape;412;p12"/>
            <p:cNvSpPr txBox="1"/>
            <p:nvPr/>
          </p:nvSpPr>
          <p:spPr>
            <a:xfrm>
              <a:off x="127000" y="-38100"/>
              <a:ext cx="2970690" cy="4678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3" name="Google Shape;413;p12"/>
          <p:cNvGrpSpPr/>
          <p:nvPr/>
        </p:nvGrpSpPr>
        <p:grpSpPr>
          <a:xfrm>
            <a:off x="-31986" y="9686626"/>
            <a:ext cx="18351972" cy="600374"/>
            <a:chOff x="0" y="-38100"/>
            <a:chExt cx="4833441" cy="158123"/>
          </a:xfrm>
        </p:grpSpPr>
        <p:sp>
          <p:nvSpPr>
            <p:cNvPr id="414" name="Google Shape;414;p12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5" name="Google Shape;415;p12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" name="Google Shape;416;p12"/>
          <p:cNvSpPr/>
          <p:nvPr/>
        </p:nvSpPr>
        <p:spPr>
          <a:xfrm>
            <a:off x="10416931" y="6414450"/>
            <a:ext cx="453340" cy="453340"/>
          </a:xfrm>
          <a:custGeom>
            <a:rect b="b" l="l" r="r" t="t"/>
            <a:pathLst>
              <a:path extrusionOk="0" h="453340" w="453340">
                <a:moveTo>
                  <a:pt x="0" y="0"/>
                </a:moveTo>
                <a:lnTo>
                  <a:pt x="453340" y="0"/>
                </a:lnTo>
                <a:lnTo>
                  <a:pt x="453340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417" name="Google Shape;417;p12"/>
          <p:cNvSpPr/>
          <p:nvPr/>
        </p:nvSpPr>
        <p:spPr>
          <a:xfrm>
            <a:off x="10416931" y="7138417"/>
            <a:ext cx="453340" cy="453340"/>
          </a:xfrm>
          <a:custGeom>
            <a:rect b="b" l="l" r="r" t="t"/>
            <a:pathLst>
              <a:path extrusionOk="0" h="453340" w="453340">
                <a:moveTo>
                  <a:pt x="0" y="0"/>
                </a:moveTo>
                <a:lnTo>
                  <a:pt x="453340" y="0"/>
                </a:lnTo>
                <a:lnTo>
                  <a:pt x="453340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418" name="Google Shape;418;p12"/>
          <p:cNvSpPr/>
          <p:nvPr/>
        </p:nvSpPr>
        <p:spPr>
          <a:xfrm>
            <a:off x="10416931" y="7860080"/>
            <a:ext cx="453340" cy="453340"/>
          </a:xfrm>
          <a:custGeom>
            <a:rect b="b" l="l" r="r" t="t"/>
            <a:pathLst>
              <a:path extrusionOk="0" h="453340" w="453340">
                <a:moveTo>
                  <a:pt x="0" y="0"/>
                </a:moveTo>
                <a:lnTo>
                  <a:pt x="453340" y="0"/>
                </a:lnTo>
                <a:lnTo>
                  <a:pt x="453340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419" name="Google Shape;419;p12"/>
          <p:cNvSpPr/>
          <p:nvPr/>
        </p:nvSpPr>
        <p:spPr>
          <a:xfrm>
            <a:off x="10416931" y="8584047"/>
            <a:ext cx="453340" cy="453340"/>
          </a:xfrm>
          <a:custGeom>
            <a:rect b="b" l="l" r="r" t="t"/>
            <a:pathLst>
              <a:path extrusionOk="0" h="453340" w="453340">
                <a:moveTo>
                  <a:pt x="0" y="0"/>
                </a:moveTo>
                <a:lnTo>
                  <a:pt x="453340" y="0"/>
                </a:lnTo>
                <a:lnTo>
                  <a:pt x="453340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420" name="Google Shape;420;p12"/>
          <p:cNvSpPr txBox="1"/>
          <p:nvPr/>
        </p:nvSpPr>
        <p:spPr>
          <a:xfrm>
            <a:off x="1501954" y="4119258"/>
            <a:ext cx="152841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497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>
                <a:solidFill>
                  <a:srgbClr val="5A2D9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Thoughts &amp; Clarifying Questions</a:t>
            </a:r>
            <a:endParaRPr sz="100"/>
          </a:p>
        </p:txBody>
      </p:sp>
      <p:sp>
        <p:nvSpPr>
          <p:cNvPr id="421" name="Google Shape;421;p12"/>
          <p:cNvSpPr/>
          <p:nvPr/>
        </p:nvSpPr>
        <p:spPr>
          <a:xfrm>
            <a:off x="7010400" y="666240"/>
            <a:ext cx="3135134" cy="3336532"/>
          </a:xfrm>
          <a:custGeom>
            <a:rect b="b" l="l" r="r" t="t"/>
            <a:pathLst>
              <a:path extrusionOk="0" h="3336532" w="3135134">
                <a:moveTo>
                  <a:pt x="0" y="0"/>
                </a:moveTo>
                <a:lnTo>
                  <a:pt x="3135134" y="0"/>
                </a:lnTo>
                <a:lnTo>
                  <a:pt x="3135134" y="3336532"/>
                </a:lnTo>
                <a:lnTo>
                  <a:pt x="0" y="33365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422" name="Google Shape;422;p12"/>
          <p:cNvSpPr/>
          <p:nvPr/>
        </p:nvSpPr>
        <p:spPr>
          <a:xfrm>
            <a:off x="3417020" y="6414450"/>
            <a:ext cx="6408675" cy="2843850"/>
          </a:xfrm>
          <a:custGeom>
            <a:rect b="b" l="l" r="r" t="t"/>
            <a:pathLst>
              <a:path extrusionOk="0" h="2843850" w="6408675">
                <a:moveTo>
                  <a:pt x="0" y="0"/>
                </a:moveTo>
                <a:lnTo>
                  <a:pt x="6408676" y="0"/>
                </a:lnTo>
                <a:lnTo>
                  <a:pt x="6408676" y="2843850"/>
                </a:lnTo>
                <a:lnTo>
                  <a:pt x="0" y="2843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pic>
        <p:nvPicPr>
          <p:cNvPr id="423" name="Google Shape;42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86421" y="6744952"/>
            <a:ext cx="2211205" cy="221120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2"/>
          <p:cNvSpPr txBox="1"/>
          <p:nvPr/>
        </p:nvSpPr>
        <p:spPr>
          <a:xfrm>
            <a:off x="11001455" y="6448088"/>
            <a:ext cx="2590145" cy="32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(404) 527-0080</a:t>
            </a:r>
            <a:endParaRPr/>
          </a:p>
        </p:txBody>
      </p:sp>
      <p:sp>
        <p:nvSpPr>
          <p:cNvPr id="425" name="Google Shape;425;p12"/>
          <p:cNvSpPr txBox="1"/>
          <p:nvPr/>
        </p:nvSpPr>
        <p:spPr>
          <a:xfrm>
            <a:off x="11001455" y="7172055"/>
            <a:ext cx="2590145" cy="32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turnerseminary.org </a:t>
            </a:r>
            <a:endParaRPr/>
          </a:p>
        </p:txBody>
      </p:sp>
      <p:sp>
        <p:nvSpPr>
          <p:cNvPr id="426" name="Google Shape;426;p12"/>
          <p:cNvSpPr txBox="1"/>
          <p:nvPr/>
        </p:nvSpPr>
        <p:spPr>
          <a:xfrm>
            <a:off x="11001455" y="7893717"/>
            <a:ext cx="4771945" cy="3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aneal@turnerseminary.org</a:t>
            </a:r>
            <a:endParaRPr sz="1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7" name="Google Shape;427;p12"/>
          <p:cNvSpPr txBox="1"/>
          <p:nvPr/>
        </p:nvSpPr>
        <p:spPr>
          <a:xfrm>
            <a:off x="11001455" y="8617684"/>
            <a:ext cx="3698918" cy="646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702 Martin Luther King Jr. Dr. SW, 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Atlanta, GA 30314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