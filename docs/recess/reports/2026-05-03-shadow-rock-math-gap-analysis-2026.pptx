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0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92608" y="1874520"/>
            <a:ext cx="3840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6583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ROCK ELEMENTARY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1173" y="1075563"/>
            <a:ext cx="6858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Mathematics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Analysis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92608" y="25420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Milestones · Grades 3–5 · Spring Retest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3200400"/>
            <a:ext cx="1965960" cy="1417320"/>
          </a:xfrm>
          <a:prstGeom prst="rect">
            <a:avLst/>
          </a:prstGeom>
          <a:solidFill>
            <a:srgbClr val="0D1425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" y="3200400"/>
            <a:ext cx="196596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33101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92608" y="3950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kern="0" spc="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3200400"/>
            <a:ext cx="1965960" cy="1417320"/>
          </a:xfrm>
          <a:prstGeom prst="rect">
            <a:avLst/>
          </a:prstGeom>
          <a:solidFill>
            <a:srgbClr val="0D1425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3200400"/>
            <a:ext cx="196596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68880" y="33101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468880" y="3950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kern="0" spc="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45152" y="3200400"/>
            <a:ext cx="1965960" cy="1417320"/>
          </a:xfrm>
          <a:prstGeom prst="rect">
            <a:avLst/>
          </a:prstGeom>
          <a:solidFill>
            <a:srgbClr val="0D1425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45152" y="3200400"/>
            <a:ext cx="196596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45152" y="33101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45152" y="3950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kern="0" spc="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21424" y="3200400"/>
            <a:ext cx="1965960" cy="1417320"/>
          </a:xfrm>
          <a:prstGeom prst="rect">
            <a:avLst/>
          </a:prstGeom>
          <a:solidFill>
            <a:srgbClr val="0D1425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21424" y="3200400"/>
            <a:ext cx="196596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21424" y="33101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21424" y="39502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kern="0" spc="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 Gr.5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May 2026  ·  DeKalb County School District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377440" y="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5th Grade Retest: System-Wide Gap Across All Domains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658368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9326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students retesting · Average scale score 478 · ZERO students exceeded target in any domain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8503920" cy="484632"/>
          </a:xfrm>
          <a:prstGeom prst="rect">
            <a:avLst/>
          </a:prstGeom>
          <a:solidFill>
            <a:srgbClr val="FAFAFA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5029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with Fractions (NR · 5.NF)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49240" y="1920240"/>
            <a:ext cx="2011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49240" y="1920240"/>
            <a:ext cx="1448410" cy="155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52360" y="1755648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1755648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78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272284"/>
            <a:ext cx="8503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272284"/>
            <a:ext cx="5029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Patterns &amp; Ordered Pairs (PAR · 5.OA)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2436876"/>
            <a:ext cx="2011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49240" y="2436876"/>
            <a:ext cx="1388059" cy="155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52360" y="2272284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272284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78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788920"/>
            <a:ext cx="8503920" cy="484632"/>
          </a:xfrm>
          <a:prstGeom prst="rect">
            <a:avLst/>
          </a:prstGeom>
          <a:solidFill>
            <a:srgbClr val="FAFAFA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788920"/>
            <a:ext cx="5029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Properties &amp; Volume of Prisms (GSR)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2953512"/>
            <a:ext cx="2011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49240" y="2953512"/>
            <a:ext cx="1367942" cy="155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52360" y="2788920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2788920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78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305556"/>
            <a:ext cx="8503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305556"/>
            <a:ext cx="5029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Value and Decimals (NR · 5.NBT)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9240" y="3470148"/>
            <a:ext cx="2011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49240" y="3470148"/>
            <a:ext cx="1347826" cy="155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52360" y="3305556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3305556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78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822192"/>
            <a:ext cx="8503920" cy="484632"/>
          </a:xfrm>
          <a:prstGeom prst="rect">
            <a:avLst/>
          </a:prstGeom>
          <a:solidFill>
            <a:srgbClr val="FAFAFA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3822192"/>
            <a:ext cx="5029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Multiplication, Division &amp; Numerical Reasoning (NR)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49240" y="3986784"/>
            <a:ext cx="2011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349240" y="3986784"/>
            <a:ext cx="1307592" cy="155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52360" y="3822192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0" y="3822192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78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338828"/>
            <a:ext cx="8503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" y="4338828"/>
            <a:ext cx="5029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Conversions &amp; Data Displays (MDR)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49240" y="4503420"/>
            <a:ext cx="2011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349240" y="4503420"/>
            <a:ext cx="1267358" cy="1554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52360" y="4338828"/>
            <a:ext cx="731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0" y="4338828"/>
            <a:ext cx="548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78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15727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 Rate  →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453640" y="0"/>
            <a:ext cx="650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5th Grade · Below Target Rates by Homeroom Teacher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297680" cy="19385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4297680" cy="420624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54864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9601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Goss, Tonya Michell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96012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n=22 · Avg 455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380744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380744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w/ Fractions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1380744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633118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633118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Ordered Pairs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11880" y="1633118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1885493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1885493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/ Volume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1885493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137867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137867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Value &amp; Decimals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11880" y="2137867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2390242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390242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Mult., Division &amp; NR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1880" y="2390242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2642616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642616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Conversions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11880" y="2642616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960120"/>
            <a:ext cx="4297680" cy="19385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960120"/>
            <a:ext cx="4297680" cy="420624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960120"/>
            <a:ext cx="54864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9601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Moon, Felicia Williams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8160" y="96012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n=12 · Avg 459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380744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380744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Mult., Division &amp; NR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83880" y="1380744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633118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1633118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Ordered Pairs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183880" y="1633118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1885493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1885493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w/ Fractions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1885493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137867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2137867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Value &amp; Decimals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83880" y="2137867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2390242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6320" y="2390242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Conversions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183880" y="2390242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2642616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0" y="2642616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/ Volume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183880" y="2642616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" y="3090672"/>
            <a:ext cx="4297680" cy="19385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82880" y="3090672"/>
            <a:ext cx="4297680" cy="420624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82880" y="3090672"/>
            <a:ext cx="54864" cy="4206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92608" y="30906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Johnson, Anthony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566160" y="30906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n=21 · Avg 491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82880" y="3511296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74320" y="3511296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Mult., Division &amp; NR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611880" y="3511296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82880" y="3763670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4320" y="3763670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Ordered Pairs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611880" y="3763670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82880" y="4016045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4016045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w/ Fractions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611880" y="4016045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82880" y="4268419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74320" y="4268419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/ Volume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611880" y="4268419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82880" y="4520794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74320" y="4520794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Value &amp; Decimals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611880" y="4520794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82880" y="4773168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274320" y="4773168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Conversions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3611880" y="4773168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754880" y="3090672"/>
            <a:ext cx="4297680" cy="1938528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754880" y="3090672"/>
            <a:ext cx="4297680" cy="420624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754880" y="3090672"/>
            <a:ext cx="54864" cy="420624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864608" y="30906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Williams, Felycia Symone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138160" y="30906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n=23 · Avg 498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754880" y="3511296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846320" y="3511296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Conversions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183880" y="3511296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754880" y="3763670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846320" y="3763670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w/ Fractions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8183880" y="3763670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754880" y="4016045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846320" y="4016045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Value &amp; Decimals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8183880" y="4016045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754880" y="4268419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846320" y="4268419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/ Volume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8183880" y="4268419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754880" y="4520794"/>
            <a:ext cx="4297680" cy="25237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4846320" y="4520794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Ordered Pairs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183880" y="4520794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754880" y="4773168"/>
            <a:ext cx="4297680" cy="252374"/>
          </a:xfrm>
          <a:prstGeom prst="rect">
            <a:avLst/>
          </a:prstGeom>
          <a:solidFill>
            <a:srgbClr val="F8F7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846320" y="4773168"/>
            <a:ext cx="3291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Mult., Division &amp; NR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8183880" y="4773168"/>
            <a:ext cx="7772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0312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Started in 3rd Grade — Not 5th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Prerequisite Chain · Every Node is Broken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" y="1325880"/>
            <a:ext cx="1426464" cy="1938528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" y="1325880"/>
            <a:ext cx="142646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" y="1389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GRADE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3504" y="1691640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 Fractions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(3.NF)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9536" y="2542032"/>
            <a:ext cx="914400" cy="228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" y="25877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Below 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29968" y="2148840"/>
            <a:ext cx="201168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29968" y="199339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31136" y="1325880"/>
            <a:ext cx="1426464" cy="1938528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31136" y="1325880"/>
            <a:ext cx="142646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31136" y="1389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GRADE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31136" y="1691640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Multiplication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 within 100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(3.OA)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87168" y="2542032"/>
            <a:ext cx="914400" cy="228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31136" y="25877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Below Target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2148840"/>
            <a:ext cx="201168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0" y="199339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58768" y="1325880"/>
            <a:ext cx="1426464" cy="1938528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58768" y="1325880"/>
            <a:ext cx="142646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58768" y="1389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GRADE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58768" y="1691640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Add/Subtract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(4.NF.B)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0" y="2542032"/>
            <a:ext cx="914400" cy="228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58768" y="25877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Below Target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85232" y="2148840"/>
            <a:ext cx="201168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85232" y="199339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0" y="1325880"/>
            <a:ext cx="1426464" cy="1938528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0" y="1325880"/>
            <a:ext cx="142646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0" y="1389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GRADE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0" y="1691640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Decimals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(4.NF.C)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42432" y="2542032"/>
            <a:ext cx="914400" cy="228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0" y="25877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Below Target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12864" y="2148840"/>
            <a:ext cx="201168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12864" y="199339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114032" y="1325880"/>
            <a:ext cx="1426464" cy="1938528"/>
          </a:xfrm>
          <a:prstGeom prst="rect">
            <a:avLst/>
          </a:prstGeom>
          <a:solidFill>
            <a:srgbClr val="FDF0EE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114032" y="1325880"/>
            <a:ext cx="142646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14032" y="138988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GRADE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14032" y="1691640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with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(5.NF)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70064" y="2542032"/>
            <a:ext cx="914400" cy="228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14032" y="258775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Below Target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675888"/>
            <a:ext cx="8503920" cy="1115568"/>
          </a:xfrm>
          <a:prstGeom prst="rect">
            <a:avLst/>
          </a:prstGeom>
          <a:solidFill>
            <a:srgbClr val="F8F7F5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0040" y="3675888"/>
            <a:ext cx="54864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5488" y="3730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488" y="398678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Re-teaching 5th grade fraction standards without first filling the 3rd and 4th grade prerequisite gaps will not produce passing scores on the retest. The failure is a pipeline problem, not a 5th grade curriculum problem.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66950" y="0"/>
            <a:ext cx="669417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4th Grade · The Same Gap Is Building for Next Year's 5th Grade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Performance · 88 Students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14800" cy="448056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Add/Subtract Fractions (4.NF.B)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3552" y="1444752"/>
            <a:ext cx="868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73552" y="1444752"/>
            <a:ext cx="521208" cy="155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78808" y="1298448"/>
            <a:ext cx="228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73936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77393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Data Displays (4.MD)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73552" y="1920240"/>
            <a:ext cx="868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1920240"/>
            <a:ext cx="495148" cy="155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78808" y="1773936"/>
            <a:ext cx="228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49424"/>
            <a:ext cx="4114800" cy="448056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249424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 &amp; Fractions (4.NF.C)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2395728"/>
            <a:ext cx="868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73552" y="2395728"/>
            <a:ext cx="477774" cy="155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78808" y="2249424"/>
            <a:ext cx="228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724912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&amp; Shape Patterns (4.OA)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73552" y="2871216"/>
            <a:ext cx="868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73552" y="2871216"/>
            <a:ext cx="451714" cy="1554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78808" y="2724912"/>
            <a:ext cx="228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200400"/>
            <a:ext cx="4114800" cy="448056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200400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Add/Subtract Whole Numbers (4.NBT)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73552" y="3346704"/>
            <a:ext cx="868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73552" y="3346704"/>
            <a:ext cx="460400" cy="1554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78808" y="3200400"/>
            <a:ext cx="228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675888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Perimeter &amp; Polygons (4.G)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73552" y="3822192"/>
            <a:ext cx="868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73552" y="3822192"/>
            <a:ext cx="486461" cy="1554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78808" y="3675888"/>
            <a:ext cx="228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151376"/>
            <a:ext cx="4114800" cy="448056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15137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Measurement (4.MD.C)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73552" y="4297680"/>
            <a:ext cx="868680" cy="155448"/>
          </a:xfrm>
          <a:prstGeom prst="rect">
            <a:avLst/>
          </a:prstGeom>
          <a:solidFill>
            <a:srgbClr val="E0D8CC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73552" y="4297680"/>
            <a:ext cx="390906" cy="15544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78808" y="4151376"/>
            <a:ext cx="228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9601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Pipeline · By Teacher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1298448"/>
            <a:ext cx="3977640" cy="713232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46320" y="1298448"/>
            <a:ext cx="54864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83480" y="13350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Brown, Christine Victoria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83480" y="1755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Fractions: 35% Below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20840" y="1755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Decimals: 15% Below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2075688"/>
            <a:ext cx="3977640" cy="713232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46320" y="2075688"/>
            <a:ext cx="54864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83480" y="2112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Dill, Zhane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983480" y="2377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n=25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83480" y="2532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Fractions: 64% Below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20840" y="25328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Decimals: 56% Below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2852928"/>
            <a:ext cx="3977640" cy="713232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846320" y="2852928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983480" y="2889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Lewis, Cloreadia P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983480" y="31546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83480" y="3310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Fractions: 72% Below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20840" y="3310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Decimals: 60% Below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46320" y="3630168"/>
            <a:ext cx="3977640" cy="713232"/>
          </a:xfrm>
          <a:prstGeom prst="rect">
            <a:avLst/>
          </a:prstGeom>
          <a:solidFill>
            <a:srgbClr val="F8F7F5"/>
          </a:solidFill>
          <a:ln w="12700">
            <a:solidFill>
              <a:srgbClr val="E0D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846320" y="3630168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983480" y="3666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Simmons-Smith, Rose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983480" y="3931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n=12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983480" y="4087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Fractions: 83% Below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20840" y="4087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Decimals: 83% Below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46320" y="44348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Brown's class shows what is possible — 35% vs 72–83% in other classrooms. This is an instructional consistency signal worth examining.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608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Priorities · Ranked by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234440"/>
            <a:ext cx="8641080" cy="713232"/>
          </a:xfrm>
          <a:prstGeom prst="rect">
            <a:avLst/>
          </a:prstGeom>
          <a:solidFill>
            <a:srgbClr val="0D1425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1234440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1399032"/>
            <a:ext cx="6858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13990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18488" y="12710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 Prerequisites Before Re-Teaching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18488" y="156362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5th graders on 4.NF.A.1 (equivalent fractions) and 3.NF before any 5th grade re-teaching. Students failing prerequisites need earlier content, not 5th grade re-exposure.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2007108"/>
            <a:ext cx="8641080" cy="713232"/>
          </a:xfrm>
          <a:prstGeom prst="rect">
            <a:avLst/>
          </a:prstGeom>
          <a:solidFill>
            <a:srgbClr val="0D1425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" y="2007108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007108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41248" y="2171700"/>
            <a:ext cx="6858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21717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618488" y="20436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the 379–450 Band (24 Students)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18488" y="233629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students need intensive small-group intervention — not whole-class re-teaching. Waiting for the retest without targeted action will reproduce the same result.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" y="2779776"/>
            <a:ext cx="8641080" cy="713232"/>
          </a:xfrm>
          <a:prstGeom prst="rect">
            <a:avLst/>
          </a:prstGeom>
          <a:solidFill>
            <a:srgbClr val="0D1425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2608" y="2779776"/>
            <a:ext cx="54864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2779776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2944368"/>
            <a:ext cx="6858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" y="29443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18488" y="28163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Dill, Lewis, and Simmons-Smith (4th Grade)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18488" y="31089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64–83% Below Target on 4.NF. Without intervention, next year's 5th grade cohort enters with the same gap the current class has.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2608" y="3552444"/>
            <a:ext cx="8641080" cy="713232"/>
          </a:xfrm>
          <a:prstGeom prst="rect">
            <a:avLst/>
          </a:prstGeom>
          <a:solidFill>
            <a:srgbClr val="0D1425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2608" y="3552444"/>
            <a:ext cx="54864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355244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41248" y="3717036"/>
            <a:ext cx="6858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1248" y="37170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618488" y="35890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 3rd Grade Multiplication &amp; Division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18488" y="38816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Below Target on 3.OA (within 100). This is the computational root of all fraction difficulty. Earliest intervention point in the pipeline.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2608" y="4325112"/>
            <a:ext cx="8641080" cy="713232"/>
          </a:xfrm>
          <a:prstGeom prst="rect">
            <a:avLst/>
          </a:prstGeom>
          <a:solidFill>
            <a:srgbClr val="0D1425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92608" y="4325112"/>
            <a:ext cx="54864" cy="71323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" y="432511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89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841248" y="4489704"/>
            <a:ext cx="685800" cy="25603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1248" y="448970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618488" y="43616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Accommodations — Special Ed &amp; EL (27 Students)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618488" y="465429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Special Ed and 11 EL students in the retest cohort. Verify IEP accommodations and language supports are in place and documented before the retest.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2608" y="4828032"/>
            <a:ext cx="8641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Rock Elementary · DeKalb County · Georgia Milestones Spring 2026 · Meridia · Crown's Eye Intelligence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908</Words>
  <Application>Microsoft Office PowerPoint</Application>
  <PresentationFormat>On-screen Show (16:9)</PresentationFormat>
  <Paragraphs>194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Shadow Rock Elementary Math Gap Analysis Spring 2026</dc:title>
  <dc:subject>PptxGenJS Presentation</dc:subject>
  <dc:creator>PptxGenJS</dc:creator>
  <cp:lastModifiedBy>Aliman Neal</cp:lastModifiedBy>
  <cp:revision>2</cp:revision>
  <dcterms:created xsi:type="dcterms:W3CDTF">2026-05-04T03:43:09Z</dcterms:created>
  <dcterms:modified xsi:type="dcterms:W3CDTF">2026-05-04T03:55:39Z</dcterms:modified>
</cp:coreProperties>
</file>